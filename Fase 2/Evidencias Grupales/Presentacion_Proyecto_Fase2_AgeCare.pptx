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6"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0" d="100"/>
          <a:sy n="60" d="100"/>
        </p:scale>
        <p:origin x="42" y="10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25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Buenas</a:t>
            </a:r>
            <a:r>
              <a:rPr dirty="0"/>
              <a:t>. Somos Bryan Piña y Julio Muñoz y </a:t>
            </a:r>
            <a:r>
              <a:rPr dirty="0" err="1"/>
              <a:t>vamos</a:t>
            </a:r>
            <a:r>
              <a:rPr dirty="0"/>
              <a:t> a </a:t>
            </a:r>
            <a:r>
              <a:rPr dirty="0" err="1"/>
              <a:t>mostrar</a:t>
            </a:r>
            <a:r>
              <a:rPr dirty="0"/>
              <a:t> el </a:t>
            </a:r>
            <a:r>
              <a:rPr dirty="0" err="1"/>
              <a:t>avance</a:t>
            </a:r>
            <a:r>
              <a:rPr dirty="0"/>
              <a:t> de </a:t>
            </a:r>
            <a:r>
              <a:rPr dirty="0" err="1"/>
              <a:t>AgeCare</a:t>
            </a:r>
            <a:r>
              <a:rPr dirty="0"/>
              <a:t>: el marketplace de </a:t>
            </a:r>
            <a:r>
              <a:rPr dirty="0" err="1"/>
              <a:t>cuidadoras</a:t>
            </a:r>
            <a:r>
              <a:rPr dirty="0"/>
              <a:t> con </a:t>
            </a:r>
            <a:r>
              <a:rPr dirty="0" err="1"/>
              <a:t>reseñas</a:t>
            </a:r>
            <a:r>
              <a:rPr dirty="0"/>
              <a:t>, puntos y ranking </a:t>
            </a:r>
            <a:r>
              <a:rPr dirty="0" err="1"/>
              <a:t>dentro</a:t>
            </a:r>
            <a:r>
              <a:rPr dirty="0"/>
              <a:t> de la Consola de Administración de </a:t>
            </a:r>
            <a:r>
              <a:rPr dirty="0" err="1"/>
              <a:t>Wellq</a:t>
            </a:r>
            <a:r>
              <a:rPr dirty="0"/>
              <a:t> Co. </a:t>
            </a:r>
            <a:r>
              <a:rPr dirty="0" err="1"/>
              <a:t>Tenemos</a:t>
            </a:r>
            <a:r>
              <a:rPr dirty="0"/>
              <a:t> </a:t>
            </a:r>
            <a:r>
              <a:rPr dirty="0" err="1"/>
              <a:t>diez</a:t>
            </a:r>
            <a:r>
              <a:rPr dirty="0"/>
              <a:t> </a:t>
            </a:r>
            <a:r>
              <a:rPr dirty="0" err="1"/>
              <a:t>minutos</a:t>
            </a:r>
            <a:r>
              <a:rPr dirty="0"/>
              <a:t>: primero </a:t>
            </a:r>
            <a:r>
              <a:rPr dirty="0" err="1"/>
              <a:t>qué</a:t>
            </a:r>
            <a:r>
              <a:rPr dirty="0"/>
              <a:t> </a:t>
            </a:r>
            <a:r>
              <a:rPr dirty="0" err="1"/>
              <a:t>comprometimos</a:t>
            </a:r>
            <a:r>
              <a:rPr dirty="0"/>
              <a:t>, luego </a:t>
            </a:r>
            <a:r>
              <a:rPr dirty="0" err="1"/>
              <a:t>qué</a:t>
            </a:r>
            <a:r>
              <a:rPr dirty="0"/>
              <a:t> </a:t>
            </a:r>
            <a:r>
              <a:rPr dirty="0" err="1"/>
              <a:t>está</a:t>
            </a:r>
            <a:r>
              <a:rPr dirty="0"/>
              <a:t> </a:t>
            </a:r>
            <a:r>
              <a:rPr dirty="0" err="1"/>
              <a:t>hecho</a:t>
            </a:r>
            <a:r>
              <a:rPr dirty="0"/>
              <a:t>, </a:t>
            </a:r>
            <a:r>
              <a:rPr dirty="0" err="1"/>
              <a:t>cómo</a:t>
            </a:r>
            <a:r>
              <a:rPr dirty="0"/>
              <a:t> lo </a:t>
            </a:r>
            <a:r>
              <a:rPr dirty="0" err="1"/>
              <a:t>hicimos</a:t>
            </a:r>
            <a:r>
              <a:rPr dirty="0"/>
              <a:t> y </a:t>
            </a:r>
            <a:r>
              <a:rPr dirty="0" err="1"/>
              <a:t>qué</a:t>
            </a:r>
            <a:r>
              <a:rPr dirty="0"/>
              <a:t> </a:t>
            </a:r>
            <a:r>
              <a:rPr dirty="0" err="1"/>
              <a:t>falta</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Recordamos el encargo: cuando una familia califica a una cuidadora al terminar un trabajo, ella suma puntos automáticamente y sube en un ranking que le da más visibilidad. Eso es lo que prometimos en la Fase 1, más levantar el frontend de la Consola que hasta entonces era solo un wireframe.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las seis etapas del plan, cuatro están completadas, una ajustada y una en curso. Agregamos una actividad que no estaba en el plan: el sitio público para familias y cuidadoras, porque es lo que permite probar el flujo completo. La prioridad en el marketplace quedó ajustada: ordenamos por destacadas y valoración, y queda pendiente conectar automáticamente el puntaje de la Consola con la marca «Destacada».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s-ES"/>
              <a:t>Los dos primeros endpoints ya existían y los cuatro siguientes son nuestro aporte. Todos están funcionando. El servidor valida las reglas del negocio: solo se registran reseñas y puntos a cuidadoras aprobadas (la regla de que la reseña se deja recién cuando el trabajo termina se aplica en el sitio público, que vemos más adelante), y cada acción queda registrada con su usuario y permisos por rol. Como respaldo tenemos 50 pruebas automáticas, 30 de la Consola y 20 del sitio, y la documentación Swagger de las dos APIs. Eso reemplazó a la colección Postman que habíamos propuesto, porque las pruebas se pueden repetir en cada cambio.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Consola de Administración que construimos en React. A la izquierda, la vista de Fidelización: los indicadores del dashboard, el ranking por puntos y el formulario para registrar una reseña. A la derecha, la ficha de una cuidadora con sus documentos: el equipo los aprueba o rechaza, y solo se publican perfiles aprobados.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el sitio público la familia busca cuidadoras aprobadas por el equipo. Ya no se contrata directo: se envía una solicitud, se abre un chat y el trabajo parte cuando la cuidadora acepta. Si está trabajando con otra familia aparece marcada y no se le puede solicitar.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cuidadora tiene su propio espacio: completa su perfil profesional, sube la foto y los documentos, ve si el equipo los aprobó y responde las solicitudes de contratación. Ahora también ve las reseñas que recibe.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Son dos aplicaciones, cada una con su frontend y su API. Las cuatro se publican en Vercel desde GitHub y usan Supabase para la base de datos PostgreSQL y el almacenamiento de archivos. Las dos APIs se avisan los cambios y, si un aviso se pierde, el sitio consulta a la Consola y se pone al día.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dificultades más grandes fueron de despliegue y de diferencias entre </a:t>
            </a:r>
            <a:r>
              <a:rPr lang="es-CL"/>
              <a:t>nuestros computadores</a:t>
            </a:r>
            <a:r>
              <a:t> y producción. Las resolvimos una por una y dejamos prácticas para que no se repitan: probar en un entorno limpio con la versión de producción antes de subir, y hacer que las dos APIs se pongan al día solas.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que falta es poco y está claro: la demo grabada, la especificación técnica final y conectar el puntaje con la marca «Destacada». Vamos a congelar las funcionalidades nuevas y usar las semanas finales para cerrar.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Muchas gracias. Quedamos atentos a sus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595360" y="-1463040"/>
            <a:ext cx="4754880" cy="4754880"/>
          </a:xfrm>
          <a:prstGeom prst="ellipse">
            <a:avLst/>
          </a:prstGeom>
          <a:solidFill>
            <a:srgbClr val="14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92640" y="4023360"/>
            <a:ext cx="3108960" cy="31089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8229600" cy="365760"/>
          </a:xfrm>
          <a:prstGeom prst="rect">
            <a:avLst/>
          </a:prstGeom>
          <a:noFill/>
        </p:spPr>
        <p:txBody>
          <a:bodyPr wrap="square" lIns="36576" tIns="18288" rIns="36576" bIns="18288" anchor="t">
            <a:spAutoFit/>
          </a:bodyPr>
          <a:lstStyle/>
          <a:p>
            <a:pPr algn="l">
              <a:lnSpc>
                <a:spcPct val="110000"/>
              </a:lnSpc>
            </a:pPr>
            <a:r>
              <a:rPr sz="1300" b="1">
                <a:solidFill>
                  <a:srgbClr val="F2A65A"/>
                </a:solidFill>
                <a:latin typeface="Arial"/>
              </a:rPr>
              <a:t>AGECARE  ·  CONSOLA DE ADMINISTRACIÓN</a:t>
            </a:r>
          </a:p>
        </p:txBody>
      </p:sp>
      <p:sp>
        <p:nvSpPr>
          <p:cNvPr id="6" name="TextBox 5"/>
          <p:cNvSpPr txBox="1"/>
          <p:nvPr/>
        </p:nvSpPr>
        <p:spPr>
          <a:xfrm>
            <a:off x="731520" y="1828800"/>
            <a:ext cx="9144000" cy="914400"/>
          </a:xfrm>
          <a:prstGeom prst="rect">
            <a:avLst/>
          </a:prstGeom>
          <a:noFill/>
        </p:spPr>
        <p:txBody>
          <a:bodyPr wrap="square" lIns="36576" tIns="18288" rIns="36576" bIns="18288" anchor="t">
            <a:spAutoFit/>
          </a:bodyPr>
          <a:lstStyle/>
          <a:p>
            <a:pPr algn="l">
              <a:lnSpc>
                <a:spcPct val="110000"/>
              </a:lnSpc>
            </a:pPr>
            <a:r>
              <a:rPr sz="4400" b="1">
                <a:solidFill>
                  <a:srgbClr val="FFFFFF"/>
                </a:solidFill>
                <a:latin typeface="Arial"/>
              </a:rPr>
              <a:t>Avance del Proyecto APT</a:t>
            </a:r>
          </a:p>
        </p:txBody>
      </p:sp>
      <p:sp>
        <p:nvSpPr>
          <p:cNvPr id="7" name="TextBox 6"/>
          <p:cNvSpPr txBox="1"/>
          <p:nvPr/>
        </p:nvSpPr>
        <p:spPr>
          <a:xfrm>
            <a:off x="731520" y="2743200"/>
            <a:ext cx="9144000" cy="548640"/>
          </a:xfrm>
          <a:prstGeom prst="rect">
            <a:avLst/>
          </a:prstGeom>
          <a:noFill/>
        </p:spPr>
        <p:txBody>
          <a:bodyPr wrap="square" lIns="36576" tIns="18288" rIns="36576" bIns="18288" anchor="t">
            <a:spAutoFit/>
          </a:bodyPr>
          <a:lstStyle/>
          <a:p>
            <a:pPr algn="l">
              <a:lnSpc>
                <a:spcPct val="110000"/>
              </a:lnSpc>
            </a:pPr>
            <a:r>
              <a:rPr sz="2200" b="0">
                <a:solidFill>
                  <a:srgbClr val="CADCFC"/>
                </a:solidFill>
                <a:latin typeface="Arial"/>
              </a:rPr>
              <a:t>Marketplace de cuidadoras y fidelización por puntos</a:t>
            </a:r>
          </a:p>
        </p:txBody>
      </p:sp>
      <p:sp>
        <p:nvSpPr>
          <p:cNvPr id="8" name="Rounded Rectangle 7"/>
          <p:cNvSpPr/>
          <p:nvPr/>
        </p:nvSpPr>
        <p:spPr>
          <a:xfrm>
            <a:off x="731520" y="3977639"/>
            <a:ext cx="7589520" cy="1325880"/>
          </a:xfrm>
          <a:prstGeom prst="roundRect">
            <a:avLst>
              <a:gd name="adj" fmla="val 6000"/>
            </a:avLst>
          </a:prstGeom>
          <a:solidFill>
            <a:srgbClr val="14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4114800"/>
            <a:ext cx="7315200" cy="1097280"/>
          </a:xfrm>
          <a:prstGeom prst="rect">
            <a:avLst/>
          </a:prstGeom>
          <a:noFill/>
        </p:spPr>
        <p:txBody>
          <a:bodyPr wrap="square" lIns="36576" tIns="18288" rIns="36576" bIns="18288" anchor="t">
            <a:spAutoFit/>
          </a:bodyPr>
          <a:lstStyle/>
          <a:p>
            <a:pPr algn="l">
              <a:lnSpc>
                <a:spcPct val="110000"/>
              </a:lnSpc>
              <a:spcAft>
                <a:spcPts val="400"/>
              </a:spcAft>
            </a:pPr>
            <a:r>
              <a:rPr sz="1400" b="1">
                <a:solidFill>
                  <a:srgbClr val="FFFFFF"/>
                </a:solidFill>
                <a:latin typeface="Arial"/>
              </a:rPr>
              <a:t>Asignatura:  </a:t>
            </a:r>
            <a:r>
              <a:rPr sz="1400" b="0">
                <a:solidFill>
                  <a:srgbClr val="FFFFFF"/>
                </a:solidFill>
                <a:latin typeface="Arial"/>
              </a:rPr>
              <a:t>PTY4614 · Capstone</a:t>
            </a:r>
          </a:p>
          <a:p>
            <a:pPr algn="l">
              <a:lnSpc>
                <a:spcPct val="110000"/>
              </a:lnSpc>
              <a:spcAft>
                <a:spcPts val="400"/>
              </a:spcAft>
            </a:pPr>
            <a:r>
              <a:rPr sz="1400" b="1">
                <a:solidFill>
                  <a:srgbClr val="FFFFFF"/>
                </a:solidFill>
                <a:latin typeface="Arial"/>
              </a:rPr>
              <a:t>Evaluación:  </a:t>
            </a:r>
            <a:r>
              <a:rPr sz="1400" b="0">
                <a:solidFill>
                  <a:srgbClr val="FFFFFF"/>
                </a:solidFill>
                <a:latin typeface="Arial"/>
              </a:rPr>
              <a:t>Fase 2 — Desarrollo del proyecto / entrega de avance</a:t>
            </a:r>
          </a:p>
          <a:p>
            <a:pPr algn="l">
              <a:lnSpc>
                <a:spcPct val="110000"/>
              </a:lnSpc>
              <a:spcAft>
                <a:spcPts val="400"/>
              </a:spcAft>
            </a:pPr>
            <a:r>
              <a:rPr sz="1400" b="1">
                <a:solidFill>
                  <a:srgbClr val="FFFFFF"/>
                </a:solidFill>
                <a:latin typeface="Arial"/>
              </a:rPr>
              <a:t>Equipo:  </a:t>
            </a:r>
            <a:r>
              <a:rPr sz="1400" b="0">
                <a:solidFill>
                  <a:srgbClr val="FFFFFF"/>
                </a:solidFill>
                <a:latin typeface="Arial"/>
              </a:rPr>
              <a:t>Bryan Piña · Julio Muñoz</a:t>
            </a:r>
          </a:p>
        </p:txBody>
      </p:sp>
      <p:sp>
        <p:nvSpPr>
          <p:cNvPr id="10" name="TextBox 9"/>
          <p:cNvSpPr txBox="1"/>
          <p:nvPr/>
        </p:nvSpPr>
        <p:spPr>
          <a:xfrm>
            <a:off x="731520" y="6217920"/>
            <a:ext cx="7315200" cy="274320"/>
          </a:xfrm>
          <a:prstGeom prst="rect">
            <a:avLst/>
          </a:prstGeom>
          <a:noFill/>
        </p:spPr>
        <p:txBody>
          <a:bodyPr wrap="square" lIns="36576" tIns="18288" rIns="36576" bIns="18288" anchor="t">
            <a:spAutoFit/>
          </a:bodyPr>
          <a:lstStyle/>
          <a:p>
            <a:pPr algn="l">
              <a:lnSpc>
                <a:spcPct val="110000"/>
              </a:lnSpc>
            </a:pPr>
            <a:r>
              <a:rPr sz="1050" b="0">
                <a:solidFill>
                  <a:srgbClr val="CADCFC"/>
                </a:solidFill>
                <a:latin typeface="Arial"/>
              </a:rPr>
              <a:t>Duoc UC  ·  Taller de Proyectos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515600" cy="274320"/>
          </a:xfrm>
          <a:prstGeom prst="rect">
            <a:avLst/>
          </a:prstGeom>
          <a:noFill/>
        </p:spPr>
        <p:txBody>
          <a:bodyPr wrap="square" lIns="36576" tIns="18288" rIns="36576" bIns="18288" anchor="t">
            <a:spAutoFit/>
          </a:bodyPr>
          <a:lstStyle/>
          <a:p>
            <a:pPr algn="l">
              <a:lnSpc>
                <a:spcPct val="110000"/>
              </a:lnSpc>
            </a:pPr>
            <a:r>
              <a:rPr sz="1150" b="1">
                <a:solidFill>
                  <a:srgbClr val="C97F32"/>
                </a:solidFill>
                <a:latin typeface="Arial"/>
              </a:rPr>
              <a:t>RECORDATORIO · FASE 1</a:t>
            </a:r>
          </a:p>
        </p:txBody>
      </p:sp>
      <p:sp>
        <p:nvSpPr>
          <p:cNvPr id="3" name="TextBox 2"/>
          <p:cNvSpPr txBox="1"/>
          <p:nvPr/>
        </p:nvSpPr>
        <p:spPr>
          <a:xfrm>
            <a:off x="640080" y="713232"/>
            <a:ext cx="10881360" cy="640080"/>
          </a:xfrm>
          <a:prstGeom prst="rect">
            <a:avLst/>
          </a:prstGeom>
          <a:noFill/>
        </p:spPr>
        <p:txBody>
          <a:bodyPr wrap="square" lIns="36576" tIns="18288" rIns="36576" bIns="18288" anchor="t">
            <a:spAutoFit/>
          </a:bodyPr>
          <a:lstStyle/>
          <a:p>
            <a:pPr algn="l">
              <a:lnSpc>
                <a:spcPct val="110000"/>
              </a:lnSpc>
            </a:pPr>
            <a:r>
              <a:rPr sz="3000" b="1">
                <a:solidFill>
                  <a:srgbClr val="1E2761"/>
                </a:solidFill>
                <a:latin typeface="Arial"/>
              </a:rPr>
              <a:t>Qué nos comprometimos a construir</a:t>
            </a:r>
          </a:p>
        </p:txBody>
      </p:sp>
      <p:sp>
        <p:nvSpPr>
          <p:cNvPr id="4" name="TextBox 3"/>
          <p:cNvSpPr txBox="1"/>
          <p:nvPr/>
        </p:nvSpPr>
        <p:spPr>
          <a:xfrm>
            <a:off x="640080" y="6446520"/>
            <a:ext cx="8229600" cy="274320"/>
          </a:xfrm>
          <a:prstGeom prst="rect">
            <a:avLst/>
          </a:prstGeom>
          <a:noFill/>
        </p:spPr>
        <p:txBody>
          <a:bodyPr wrap="square" lIns="36576" tIns="18288" rIns="36576" bIns="18288" anchor="t">
            <a:spAutoFit/>
          </a:bodyPr>
          <a:lstStyle/>
          <a:p>
            <a:pPr algn="l">
              <a:lnSpc>
                <a:spcPct val="110000"/>
              </a:lnSpc>
            </a:pPr>
            <a:r>
              <a:rPr sz="900" b="0">
                <a:solidFill>
                  <a:srgbClr val="9AA5B1"/>
                </a:solidFill>
                <a:latin typeface="Arial"/>
              </a:rPr>
              <a:t>AgeCare · Marketing y Fidelización · Avance Proyecto APT (Fase 2)</a:t>
            </a:r>
          </a:p>
        </p:txBody>
      </p:sp>
      <p:sp>
        <p:nvSpPr>
          <p:cNvPr id="5" name="TextBox 4"/>
          <p:cNvSpPr txBox="1"/>
          <p:nvPr/>
        </p:nvSpPr>
        <p:spPr>
          <a:xfrm>
            <a:off x="10972800" y="6446520"/>
            <a:ext cx="640080" cy="177421"/>
          </a:xfrm>
          <a:prstGeom prst="rect">
            <a:avLst/>
          </a:prstGeom>
          <a:noFill/>
        </p:spPr>
        <p:txBody>
          <a:bodyPr wrap="square" lIns="36576" tIns="18288" rIns="36576" bIns="18288" anchor="t">
            <a:spAutoFit/>
          </a:bodyPr>
          <a:lstStyle/>
          <a:p>
            <a:pPr algn="r">
              <a:lnSpc>
                <a:spcPct val="110000"/>
              </a:lnSpc>
            </a:pPr>
            <a:r>
              <a:rPr lang="es-CL" sz="900" b="0">
                <a:solidFill>
                  <a:srgbClr val="9AA5B1"/>
                </a:solidFill>
                <a:latin typeface="Arial"/>
              </a:rPr>
              <a:t>2</a:t>
            </a:r>
            <a:endParaRPr sz="900" b="0">
              <a:solidFill>
                <a:srgbClr val="9AA5B1"/>
              </a:solidFill>
              <a:latin typeface="Arial"/>
            </a:endParaRPr>
          </a:p>
        </p:txBody>
      </p:sp>
      <p:sp>
        <p:nvSpPr>
          <p:cNvPr id="6" name="TextBox 5"/>
          <p:cNvSpPr txBox="1"/>
          <p:nvPr/>
        </p:nvSpPr>
        <p:spPr>
          <a:xfrm>
            <a:off x="640080" y="1463040"/>
            <a:ext cx="10789920" cy="822960"/>
          </a:xfrm>
          <a:prstGeom prst="rect">
            <a:avLst/>
          </a:prstGeom>
          <a:noFill/>
        </p:spPr>
        <p:txBody>
          <a:bodyPr wrap="square" lIns="36576" tIns="18288" rIns="36576" bIns="18288" anchor="t">
            <a:spAutoFit/>
          </a:bodyPr>
          <a:lstStyle/>
          <a:p>
            <a:pPr algn="l">
              <a:lnSpc>
                <a:spcPct val="115000"/>
              </a:lnSpc>
            </a:pPr>
            <a:r>
              <a:rPr sz="1500" b="0">
                <a:solidFill>
                  <a:srgbClr val="22283B"/>
                </a:solidFill>
                <a:latin typeface="Arial"/>
              </a:rPr>
              <a:t>AgeCare es la plataforma de cuidado de adultos mayores de Wellq Co. Nuestro proyecto agrega, en su Consola de Administración, un marketplace de cuidadoras con un sistema de fidelización por puntos y ranking.</a:t>
            </a:r>
          </a:p>
        </p:txBody>
      </p:sp>
      <p:sp>
        <p:nvSpPr>
          <p:cNvPr id="7" name="Rounded Rectangle 6"/>
          <p:cNvSpPr/>
          <p:nvPr/>
        </p:nvSpPr>
        <p:spPr>
          <a:xfrm>
            <a:off x="640080" y="2651760"/>
            <a:ext cx="2560320" cy="1965960"/>
          </a:xfrm>
          <a:prstGeom prst="roundRect">
            <a:avLst>
              <a:gd name="adj" fmla="val 6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959" y="2834640"/>
            <a:ext cx="457200" cy="4572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2862072"/>
            <a:ext cx="457200" cy="411480"/>
          </a:xfrm>
          <a:prstGeom prst="rect">
            <a:avLst/>
          </a:prstGeom>
          <a:noFill/>
        </p:spPr>
        <p:txBody>
          <a:bodyPr wrap="square" lIns="36576" tIns="18288" rIns="36576" bIns="18288" anchor="t">
            <a:spAutoFit/>
          </a:bodyPr>
          <a:lstStyle/>
          <a:p>
            <a:pPr algn="ctr">
              <a:lnSpc>
                <a:spcPct val="110000"/>
              </a:lnSpc>
            </a:pPr>
            <a:r>
              <a:rPr sz="1600" b="1">
                <a:solidFill>
                  <a:srgbClr val="FFFFFF"/>
                </a:solidFill>
                <a:latin typeface="Arial"/>
              </a:rPr>
              <a:t>1</a:t>
            </a:r>
          </a:p>
        </p:txBody>
      </p:sp>
      <p:sp>
        <p:nvSpPr>
          <p:cNvPr id="10" name="TextBox 9"/>
          <p:cNvSpPr txBox="1"/>
          <p:nvPr/>
        </p:nvSpPr>
        <p:spPr>
          <a:xfrm>
            <a:off x="822959" y="3429000"/>
            <a:ext cx="2194560" cy="365760"/>
          </a:xfrm>
          <a:prstGeom prst="rect">
            <a:avLst/>
          </a:prstGeom>
          <a:noFill/>
        </p:spPr>
        <p:txBody>
          <a:bodyPr wrap="square" lIns="36576" tIns="18288" rIns="36576" bIns="18288" anchor="t">
            <a:spAutoFit/>
          </a:bodyPr>
          <a:lstStyle/>
          <a:p>
            <a:pPr algn="l">
              <a:lnSpc>
                <a:spcPct val="110000"/>
              </a:lnSpc>
            </a:pPr>
            <a:r>
              <a:rPr sz="1500" b="1">
                <a:solidFill>
                  <a:srgbClr val="1E2761"/>
                </a:solidFill>
                <a:latin typeface="Arial"/>
              </a:rPr>
              <a:t>Trabajo completado</a:t>
            </a:r>
          </a:p>
        </p:txBody>
      </p:sp>
      <p:sp>
        <p:nvSpPr>
          <p:cNvPr id="11" name="TextBox 10"/>
          <p:cNvSpPr txBox="1"/>
          <p:nvPr/>
        </p:nvSpPr>
        <p:spPr>
          <a:xfrm>
            <a:off x="822959" y="3840480"/>
            <a:ext cx="2194560" cy="731520"/>
          </a:xfrm>
          <a:prstGeom prst="rect">
            <a:avLst/>
          </a:prstGeom>
          <a:noFill/>
        </p:spPr>
        <p:txBody>
          <a:bodyPr wrap="square" lIns="36576" tIns="18288" rIns="36576" bIns="18288" anchor="t">
            <a:spAutoFit/>
          </a:bodyPr>
          <a:lstStyle/>
          <a:p>
            <a:pPr algn="l">
              <a:lnSpc>
                <a:spcPct val="110000"/>
              </a:lnSpc>
            </a:pPr>
            <a:r>
              <a:rPr sz="1200" b="0">
                <a:solidFill>
                  <a:srgbClr val="22283B"/>
                </a:solidFill>
                <a:latin typeface="Arial"/>
              </a:rPr>
              <a:t>La cuidadora termina un trabajo con una familia.</a:t>
            </a:r>
          </a:p>
        </p:txBody>
      </p:sp>
      <p:sp>
        <p:nvSpPr>
          <p:cNvPr id="12" name="Rounded Rectangle 11"/>
          <p:cNvSpPr/>
          <p:nvPr/>
        </p:nvSpPr>
        <p:spPr>
          <a:xfrm>
            <a:off x="3429000" y="2651760"/>
            <a:ext cx="2560320" cy="1965960"/>
          </a:xfrm>
          <a:prstGeom prst="roundRect">
            <a:avLst>
              <a:gd name="adj" fmla="val 6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11880" y="2834640"/>
            <a:ext cx="457200" cy="4572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11880" y="2862072"/>
            <a:ext cx="457200" cy="411480"/>
          </a:xfrm>
          <a:prstGeom prst="rect">
            <a:avLst/>
          </a:prstGeom>
          <a:noFill/>
        </p:spPr>
        <p:txBody>
          <a:bodyPr wrap="square" lIns="36576" tIns="18288" rIns="36576" bIns="18288" anchor="t">
            <a:spAutoFit/>
          </a:bodyPr>
          <a:lstStyle/>
          <a:p>
            <a:pPr algn="ctr">
              <a:lnSpc>
                <a:spcPct val="110000"/>
              </a:lnSpc>
            </a:pPr>
            <a:r>
              <a:rPr sz="1600" b="1">
                <a:solidFill>
                  <a:srgbClr val="FFFFFF"/>
                </a:solidFill>
                <a:latin typeface="Arial"/>
              </a:rPr>
              <a:t>2</a:t>
            </a:r>
          </a:p>
        </p:txBody>
      </p:sp>
      <p:sp>
        <p:nvSpPr>
          <p:cNvPr id="15" name="TextBox 14"/>
          <p:cNvSpPr txBox="1"/>
          <p:nvPr/>
        </p:nvSpPr>
        <p:spPr>
          <a:xfrm>
            <a:off x="3611880" y="3429000"/>
            <a:ext cx="2194560" cy="365760"/>
          </a:xfrm>
          <a:prstGeom prst="rect">
            <a:avLst/>
          </a:prstGeom>
          <a:noFill/>
        </p:spPr>
        <p:txBody>
          <a:bodyPr wrap="square" lIns="36576" tIns="18288" rIns="36576" bIns="18288" anchor="t">
            <a:spAutoFit/>
          </a:bodyPr>
          <a:lstStyle/>
          <a:p>
            <a:pPr algn="l">
              <a:lnSpc>
                <a:spcPct val="110000"/>
              </a:lnSpc>
            </a:pPr>
            <a:r>
              <a:rPr sz="1500" b="1">
                <a:solidFill>
                  <a:srgbClr val="1E2761"/>
                </a:solidFill>
                <a:latin typeface="Arial"/>
              </a:rPr>
              <a:t>La familia reseña</a:t>
            </a:r>
          </a:p>
        </p:txBody>
      </p:sp>
      <p:sp>
        <p:nvSpPr>
          <p:cNvPr id="16" name="TextBox 15"/>
          <p:cNvSpPr txBox="1"/>
          <p:nvPr/>
        </p:nvSpPr>
        <p:spPr>
          <a:xfrm>
            <a:off x="3611880" y="3840480"/>
            <a:ext cx="2194560" cy="731520"/>
          </a:xfrm>
          <a:prstGeom prst="rect">
            <a:avLst/>
          </a:prstGeom>
          <a:noFill/>
        </p:spPr>
        <p:txBody>
          <a:bodyPr wrap="square" lIns="36576" tIns="18288" rIns="36576" bIns="18288" anchor="t">
            <a:spAutoFit/>
          </a:bodyPr>
          <a:lstStyle/>
          <a:p>
            <a:pPr algn="l">
              <a:lnSpc>
                <a:spcPct val="110000"/>
              </a:lnSpc>
            </a:pPr>
            <a:r>
              <a:rPr sz="1200" b="0">
                <a:solidFill>
                  <a:srgbClr val="22283B"/>
                </a:solidFill>
                <a:latin typeface="Arial"/>
              </a:rPr>
              <a:t>Califica el servicio recibido.</a:t>
            </a:r>
          </a:p>
        </p:txBody>
      </p:sp>
      <p:sp>
        <p:nvSpPr>
          <p:cNvPr id="17" name="Rounded Rectangle 16"/>
          <p:cNvSpPr/>
          <p:nvPr/>
        </p:nvSpPr>
        <p:spPr>
          <a:xfrm>
            <a:off x="6217920" y="2651760"/>
            <a:ext cx="2560320" cy="1965960"/>
          </a:xfrm>
          <a:prstGeom prst="roundRect">
            <a:avLst>
              <a:gd name="adj" fmla="val 6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00800" y="2834640"/>
            <a:ext cx="457200" cy="4572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2862072"/>
            <a:ext cx="457200" cy="411480"/>
          </a:xfrm>
          <a:prstGeom prst="rect">
            <a:avLst/>
          </a:prstGeom>
          <a:noFill/>
        </p:spPr>
        <p:txBody>
          <a:bodyPr wrap="square" lIns="36576" tIns="18288" rIns="36576" bIns="18288" anchor="t">
            <a:spAutoFit/>
          </a:bodyPr>
          <a:lstStyle/>
          <a:p>
            <a:pPr algn="ctr">
              <a:lnSpc>
                <a:spcPct val="110000"/>
              </a:lnSpc>
            </a:pPr>
            <a:r>
              <a:rPr sz="1600" b="1">
                <a:solidFill>
                  <a:srgbClr val="FFFFFF"/>
                </a:solidFill>
                <a:latin typeface="Arial"/>
              </a:rPr>
              <a:t>3</a:t>
            </a:r>
          </a:p>
        </p:txBody>
      </p:sp>
      <p:sp>
        <p:nvSpPr>
          <p:cNvPr id="20" name="TextBox 19"/>
          <p:cNvSpPr txBox="1"/>
          <p:nvPr/>
        </p:nvSpPr>
        <p:spPr>
          <a:xfrm>
            <a:off x="6400800" y="3429000"/>
            <a:ext cx="2194560" cy="365760"/>
          </a:xfrm>
          <a:prstGeom prst="rect">
            <a:avLst/>
          </a:prstGeom>
          <a:noFill/>
        </p:spPr>
        <p:txBody>
          <a:bodyPr wrap="square" lIns="36576" tIns="18288" rIns="36576" bIns="18288" anchor="t">
            <a:spAutoFit/>
          </a:bodyPr>
          <a:lstStyle/>
          <a:p>
            <a:pPr algn="l">
              <a:lnSpc>
                <a:spcPct val="110000"/>
              </a:lnSpc>
            </a:pPr>
            <a:r>
              <a:rPr sz="1500" b="1">
                <a:solidFill>
                  <a:srgbClr val="1E2761"/>
                </a:solidFill>
                <a:latin typeface="Arial"/>
              </a:rPr>
              <a:t>Se suman puntos</a:t>
            </a:r>
          </a:p>
        </p:txBody>
      </p:sp>
      <p:sp>
        <p:nvSpPr>
          <p:cNvPr id="21" name="TextBox 20"/>
          <p:cNvSpPr txBox="1"/>
          <p:nvPr/>
        </p:nvSpPr>
        <p:spPr>
          <a:xfrm>
            <a:off x="6400800" y="3840480"/>
            <a:ext cx="2194560" cy="731520"/>
          </a:xfrm>
          <a:prstGeom prst="rect">
            <a:avLst/>
          </a:prstGeom>
          <a:noFill/>
        </p:spPr>
        <p:txBody>
          <a:bodyPr wrap="square" lIns="36576" tIns="18288" rIns="36576" bIns="18288" anchor="t">
            <a:spAutoFit/>
          </a:bodyPr>
          <a:lstStyle/>
          <a:p>
            <a:pPr algn="l">
              <a:lnSpc>
                <a:spcPct val="110000"/>
              </a:lnSpc>
            </a:pPr>
            <a:r>
              <a:rPr sz="1200" b="0">
                <a:solidFill>
                  <a:srgbClr val="22283B"/>
                </a:solidFill>
                <a:latin typeface="Arial"/>
              </a:rPr>
              <a:t>10 por trabajo + 5 si la reseña es de 4 o más estrellas.</a:t>
            </a:r>
          </a:p>
        </p:txBody>
      </p:sp>
      <p:sp>
        <p:nvSpPr>
          <p:cNvPr id="22" name="Rounded Rectangle 21"/>
          <p:cNvSpPr/>
          <p:nvPr/>
        </p:nvSpPr>
        <p:spPr>
          <a:xfrm>
            <a:off x="9006839" y="2651760"/>
            <a:ext cx="2560320" cy="1965960"/>
          </a:xfrm>
          <a:prstGeom prst="roundRect">
            <a:avLst>
              <a:gd name="adj" fmla="val 6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189719" y="2834640"/>
            <a:ext cx="457200" cy="4572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89719" y="2862072"/>
            <a:ext cx="457200" cy="411480"/>
          </a:xfrm>
          <a:prstGeom prst="rect">
            <a:avLst/>
          </a:prstGeom>
          <a:noFill/>
        </p:spPr>
        <p:txBody>
          <a:bodyPr wrap="square" lIns="36576" tIns="18288" rIns="36576" bIns="18288" anchor="t">
            <a:spAutoFit/>
          </a:bodyPr>
          <a:lstStyle/>
          <a:p>
            <a:pPr algn="ctr">
              <a:lnSpc>
                <a:spcPct val="110000"/>
              </a:lnSpc>
            </a:pPr>
            <a:r>
              <a:rPr sz="1600" b="1">
                <a:solidFill>
                  <a:srgbClr val="FFFFFF"/>
                </a:solidFill>
                <a:latin typeface="Arial"/>
              </a:rPr>
              <a:t>4</a:t>
            </a:r>
          </a:p>
        </p:txBody>
      </p:sp>
      <p:sp>
        <p:nvSpPr>
          <p:cNvPr id="25" name="TextBox 24"/>
          <p:cNvSpPr txBox="1"/>
          <p:nvPr/>
        </p:nvSpPr>
        <p:spPr>
          <a:xfrm>
            <a:off x="9189719" y="3429000"/>
            <a:ext cx="2194560" cy="365760"/>
          </a:xfrm>
          <a:prstGeom prst="rect">
            <a:avLst/>
          </a:prstGeom>
          <a:noFill/>
        </p:spPr>
        <p:txBody>
          <a:bodyPr wrap="square" lIns="36576" tIns="18288" rIns="36576" bIns="18288" anchor="t">
            <a:spAutoFit/>
          </a:bodyPr>
          <a:lstStyle/>
          <a:p>
            <a:pPr algn="l">
              <a:lnSpc>
                <a:spcPct val="110000"/>
              </a:lnSpc>
            </a:pPr>
            <a:r>
              <a:rPr sz="1500" b="1">
                <a:solidFill>
                  <a:srgbClr val="1E2761"/>
                </a:solidFill>
                <a:latin typeface="Arial"/>
              </a:rPr>
              <a:t>Sube en el ranking</a:t>
            </a:r>
          </a:p>
        </p:txBody>
      </p:sp>
      <p:sp>
        <p:nvSpPr>
          <p:cNvPr id="26" name="TextBox 25"/>
          <p:cNvSpPr txBox="1"/>
          <p:nvPr/>
        </p:nvSpPr>
        <p:spPr>
          <a:xfrm>
            <a:off x="9189719" y="3840480"/>
            <a:ext cx="2194560" cy="731520"/>
          </a:xfrm>
          <a:prstGeom prst="rect">
            <a:avLst/>
          </a:prstGeom>
          <a:noFill/>
        </p:spPr>
        <p:txBody>
          <a:bodyPr wrap="square" lIns="36576" tIns="18288" rIns="36576" bIns="18288" anchor="t">
            <a:spAutoFit/>
          </a:bodyPr>
          <a:lstStyle/>
          <a:p>
            <a:pPr algn="l">
              <a:lnSpc>
                <a:spcPct val="110000"/>
              </a:lnSpc>
            </a:pPr>
            <a:r>
              <a:rPr sz="1200" b="0">
                <a:solidFill>
                  <a:srgbClr val="22283B"/>
                </a:solidFill>
                <a:latin typeface="Arial"/>
              </a:rPr>
              <a:t>Gana visibilidad en el marketplace.</a:t>
            </a:r>
          </a:p>
        </p:txBody>
      </p:sp>
      <p:sp>
        <p:nvSpPr>
          <p:cNvPr id="27" name="Rounded Rectangle 26"/>
          <p:cNvSpPr/>
          <p:nvPr/>
        </p:nvSpPr>
        <p:spPr>
          <a:xfrm>
            <a:off x="640080" y="4983480"/>
            <a:ext cx="10881360" cy="109728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5074920"/>
            <a:ext cx="10424160" cy="914400"/>
          </a:xfrm>
          <a:prstGeom prst="rect">
            <a:avLst/>
          </a:prstGeom>
          <a:noFill/>
        </p:spPr>
        <p:txBody>
          <a:bodyPr wrap="square" lIns="36576" tIns="18288" rIns="36576" bIns="18288" anchor="ctr">
            <a:spAutoFit/>
          </a:bodyPr>
          <a:lstStyle/>
          <a:p>
            <a:pPr algn="l">
              <a:lnSpc>
                <a:spcPct val="115000"/>
              </a:lnSpc>
            </a:pPr>
            <a:r>
              <a:rPr sz="1400" b="1">
                <a:solidFill>
                  <a:srgbClr val="F2A65A"/>
                </a:solidFill>
                <a:latin typeface="Arial"/>
              </a:rPr>
              <a:t>Objetivo general: </a:t>
            </a:r>
            <a:r>
              <a:rPr sz="1400" b="0">
                <a:solidFill>
                  <a:srgbClr val="FFFFFF"/>
                </a:solidFill>
                <a:latin typeface="Arial"/>
              </a:rPr>
              <a:t>construir el marketplace de cuidadoras y el sistema de puntos y ranking, y levantar el frontend de la Consola (React + Vite + TypeScript) conectado al backend existente, desplegado en Vercel.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515600" cy="274320"/>
          </a:xfrm>
          <a:prstGeom prst="rect">
            <a:avLst/>
          </a:prstGeom>
          <a:noFill/>
        </p:spPr>
        <p:txBody>
          <a:bodyPr wrap="square" lIns="36576" tIns="18288" rIns="36576" bIns="18288" anchor="t">
            <a:spAutoFit/>
          </a:bodyPr>
          <a:lstStyle/>
          <a:p>
            <a:pPr algn="l">
              <a:lnSpc>
                <a:spcPct val="110000"/>
              </a:lnSpc>
            </a:pPr>
            <a:r>
              <a:rPr sz="1150" b="1">
                <a:solidFill>
                  <a:srgbClr val="C97F32"/>
                </a:solidFill>
                <a:latin typeface="Arial"/>
              </a:rPr>
              <a:t>MONITOREO DEL PLAN DE TRABAJO</a:t>
            </a:r>
          </a:p>
        </p:txBody>
      </p:sp>
      <p:sp>
        <p:nvSpPr>
          <p:cNvPr id="3" name="TextBox 2"/>
          <p:cNvSpPr txBox="1"/>
          <p:nvPr/>
        </p:nvSpPr>
        <p:spPr>
          <a:xfrm>
            <a:off x="640080" y="713232"/>
            <a:ext cx="10881360" cy="640080"/>
          </a:xfrm>
          <a:prstGeom prst="rect">
            <a:avLst/>
          </a:prstGeom>
          <a:noFill/>
        </p:spPr>
        <p:txBody>
          <a:bodyPr wrap="square" lIns="36576" tIns="18288" rIns="36576" bIns="18288" anchor="t">
            <a:spAutoFit/>
          </a:bodyPr>
          <a:lstStyle/>
          <a:p>
            <a:pPr algn="l">
              <a:lnSpc>
                <a:spcPct val="110000"/>
              </a:lnSpc>
            </a:pPr>
            <a:r>
              <a:rPr sz="3000" b="1">
                <a:solidFill>
                  <a:srgbClr val="1E2761"/>
                </a:solidFill>
                <a:latin typeface="Arial"/>
              </a:rPr>
              <a:t>Avance frente a lo planificado</a:t>
            </a:r>
          </a:p>
        </p:txBody>
      </p:sp>
      <p:sp>
        <p:nvSpPr>
          <p:cNvPr id="4" name="TextBox 3"/>
          <p:cNvSpPr txBox="1"/>
          <p:nvPr/>
        </p:nvSpPr>
        <p:spPr>
          <a:xfrm>
            <a:off x="640080" y="6446520"/>
            <a:ext cx="8229600" cy="274320"/>
          </a:xfrm>
          <a:prstGeom prst="rect">
            <a:avLst/>
          </a:prstGeom>
          <a:noFill/>
        </p:spPr>
        <p:txBody>
          <a:bodyPr wrap="square" lIns="36576" tIns="18288" rIns="36576" bIns="18288" anchor="t">
            <a:spAutoFit/>
          </a:bodyPr>
          <a:lstStyle/>
          <a:p>
            <a:pPr algn="l">
              <a:lnSpc>
                <a:spcPct val="110000"/>
              </a:lnSpc>
            </a:pPr>
            <a:r>
              <a:rPr sz="900" b="0">
                <a:solidFill>
                  <a:srgbClr val="9AA5B1"/>
                </a:solidFill>
                <a:latin typeface="Arial"/>
              </a:rPr>
              <a:t>AgeCare · Marketing y Fidelización · Avance Proyecto APT (Fase 2)</a:t>
            </a:r>
          </a:p>
        </p:txBody>
      </p:sp>
      <p:sp>
        <p:nvSpPr>
          <p:cNvPr id="5" name="TextBox 4"/>
          <p:cNvSpPr txBox="1"/>
          <p:nvPr/>
        </p:nvSpPr>
        <p:spPr>
          <a:xfrm>
            <a:off x="10972800" y="6446520"/>
            <a:ext cx="640080" cy="177421"/>
          </a:xfrm>
          <a:prstGeom prst="rect">
            <a:avLst/>
          </a:prstGeom>
          <a:noFill/>
        </p:spPr>
        <p:txBody>
          <a:bodyPr wrap="square" lIns="36576" tIns="18288" rIns="36576" bIns="18288" anchor="t">
            <a:spAutoFit/>
          </a:bodyPr>
          <a:lstStyle/>
          <a:p>
            <a:pPr algn="r">
              <a:lnSpc>
                <a:spcPct val="110000"/>
              </a:lnSpc>
            </a:pPr>
            <a:r>
              <a:rPr lang="es-CL" sz="900" b="0">
                <a:solidFill>
                  <a:srgbClr val="9AA5B1"/>
                </a:solidFill>
                <a:latin typeface="Arial"/>
              </a:rPr>
              <a:t>3</a:t>
            </a:r>
            <a:endParaRPr sz="900" b="0">
              <a:solidFill>
                <a:srgbClr val="9AA5B1"/>
              </a:solidFill>
              <a:latin typeface="Arial"/>
            </a:endParaRPr>
          </a:p>
        </p:txBody>
      </p:sp>
      <p:sp>
        <p:nvSpPr>
          <p:cNvPr id="6" name="Rectangle 5"/>
          <p:cNvSpPr/>
          <p:nvPr/>
        </p:nvSpPr>
        <p:spPr>
          <a:xfrm>
            <a:off x="640080" y="1554480"/>
            <a:ext cx="10881360" cy="411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00200"/>
            <a:ext cx="6400800" cy="320040"/>
          </a:xfrm>
          <a:prstGeom prst="rect">
            <a:avLst/>
          </a:prstGeom>
          <a:noFill/>
        </p:spPr>
        <p:txBody>
          <a:bodyPr wrap="square" lIns="36576" tIns="18288" rIns="36576" bIns="18288" anchor="t">
            <a:spAutoFit/>
          </a:bodyPr>
          <a:lstStyle/>
          <a:p>
            <a:pPr algn="l">
              <a:lnSpc>
                <a:spcPct val="110000"/>
              </a:lnSpc>
            </a:pPr>
            <a:r>
              <a:rPr sz="1200" b="1">
                <a:solidFill>
                  <a:srgbClr val="FFFFFF"/>
                </a:solidFill>
                <a:latin typeface="Arial"/>
              </a:rPr>
              <a:t>Actividad</a:t>
            </a:r>
          </a:p>
        </p:txBody>
      </p:sp>
      <p:sp>
        <p:nvSpPr>
          <p:cNvPr id="8" name="TextBox 7"/>
          <p:cNvSpPr txBox="1"/>
          <p:nvPr/>
        </p:nvSpPr>
        <p:spPr>
          <a:xfrm>
            <a:off x="7406640" y="1600200"/>
            <a:ext cx="1828800" cy="320040"/>
          </a:xfrm>
          <a:prstGeom prst="rect">
            <a:avLst/>
          </a:prstGeom>
          <a:noFill/>
        </p:spPr>
        <p:txBody>
          <a:bodyPr wrap="square" lIns="36576" tIns="18288" rIns="36576" bIns="18288" anchor="t">
            <a:spAutoFit/>
          </a:bodyPr>
          <a:lstStyle/>
          <a:p>
            <a:pPr algn="l">
              <a:lnSpc>
                <a:spcPct val="110000"/>
              </a:lnSpc>
            </a:pPr>
            <a:r>
              <a:rPr sz="1200" b="1">
                <a:solidFill>
                  <a:srgbClr val="FFFFFF"/>
                </a:solidFill>
                <a:latin typeface="Arial"/>
              </a:rPr>
              <a:t>Semanas</a:t>
            </a:r>
          </a:p>
        </p:txBody>
      </p:sp>
      <p:sp>
        <p:nvSpPr>
          <p:cNvPr id="9" name="TextBox 8"/>
          <p:cNvSpPr txBox="1"/>
          <p:nvPr/>
        </p:nvSpPr>
        <p:spPr>
          <a:xfrm>
            <a:off x="9418320" y="1600200"/>
            <a:ext cx="1828800" cy="320040"/>
          </a:xfrm>
          <a:prstGeom prst="rect">
            <a:avLst/>
          </a:prstGeom>
          <a:noFill/>
        </p:spPr>
        <p:txBody>
          <a:bodyPr wrap="square" lIns="36576" tIns="18288" rIns="36576" bIns="18288" anchor="t">
            <a:spAutoFit/>
          </a:bodyPr>
          <a:lstStyle/>
          <a:p>
            <a:pPr algn="l">
              <a:lnSpc>
                <a:spcPct val="110000"/>
              </a:lnSpc>
            </a:pPr>
            <a:r>
              <a:rPr sz="1200" b="1">
                <a:solidFill>
                  <a:srgbClr val="FFFFFF"/>
                </a:solidFill>
                <a:latin typeface="Arial"/>
              </a:rPr>
              <a:t>Estado</a:t>
            </a:r>
          </a:p>
        </p:txBody>
      </p:sp>
      <p:sp>
        <p:nvSpPr>
          <p:cNvPr id="10" name="Rectangle 9"/>
          <p:cNvSpPr/>
          <p:nvPr/>
        </p:nvSpPr>
        <p:spPr>
          <a:xfrm>
            <a:off x="640080" y="1965960"/>
            <a:ext cx="10881360" cy="47548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039112"/>
            <a:ext cx="6583680" cy="365760"/>
          </a:xfrm>
          <a:prstGeom prst="rect">
            <a:avLst/>
          </a:prstGeom>
          <a:noFill/>
        </p:spPr>
        <p:txBody>
          <a:bodyPr wrap="square" lIns="36576" tIns="18288" rIns="36576" bIns="18288" anchor="t">
            <a:spAutoFit/>
          </a:bodyPr>
          <a:lstStyle/>
          <a:p>
            <a:pPr algn="l">
              <a:lnSpc>
                <a:spcPct val="110000"/>
              </a:lnSpc>
            </a:pPr>
            <a:r>
              <a:rPr sz="1300" b="0">
                <a:solidFill>
                  <a:srgbClr val="22283B"/>
                </a:solidFill>
                <a:latin typeface="Arial"/>
              </a:rPr>
              <a:t>Validación técnica y de alcance</a:t>
            </a:r>
          </a:p>
        </p:txBody>
      </p:sp>
      <p:sp>
        <p:nvSpPr>
          <p:cNvPr id="12" name="TextBox 11"/>
          <p:cNvSpPr txBox="1"/>
          <p:nvPr/>
        </p:nvSpPr>
        <p:spPr>
          <a:xfrm>
            <a:off x="7406640" y="2039112"/>
            <a:ext cx="1828800" cy="365760"/>
          </a:xfrm>
          <a:prstGeom prst="rect">
            <a:avLst/>
          </a:prstGeom>
          <a:noFill/>
        </p:spPr>
        <p:txBody>
          <a:bodyPr wrap="square" lIns="36576" tIns="18288" rIns="36576" bIns="18288" anchor="t">
            <a:spAutoFit/>
          </a:bodyPr>
          <a:lstStyle/>
          <a:p>
            <a:pPr algn="l">
              <a:lnSpc>
                <a:spcPct val="110000"/>
              </a:lnSpc>
            </a:pPr>
            <a:r>
              <a:rPr sz="1300" b="0">
                <a:solidFill>
                  <a:srgbClr val="6B7280"/>
                </a:solidFill>
                <a:latin typeface="Arial"/>
              </a:rPr>
              <a:t>S1–S2</a:t>
            </a:r>
          </a:p>
        </p:txBody>
      </p:sp>
      <p:sp>
        <p:nvSpPr>
          <p:cNvPr id="13" name="Rounded Rectangle 12"/>
          <p:cNvSpPr/>
          <p:nvPr/>
        </p:nvSpPr>
        <p:spPr>
          <a:xfrm>
            <a:off x="9418320" y="2075688"/>
            <a:ext cx="132588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FFFF"/>
                </a:solidFill>
                <a:latin typeface="Arial"/>
              </a:rPr>
              <a:t>Completado</a:t>
            </a:r>
          </a:p>
        </p:txBody>
      </p:sp>
      <p:sp>
        <p:nvSpPr>
          <p:cNvPr id="14" name="Rectangle 13"/>
          <p:cNvSpPr/>
          <p:nvPr/>
        </p:nvSpPr>
        <p:spPr>
          <a:xfrm>
            <a:off x="640080" y="2441448"/>
            <a:ext cx="1088136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514600"/>
            <a:ext cx="6583680" cy="365760"/>
          </a:xfrm>
          <a:prstGeom prst="rect">
            <a:avLst/>
          </a:prstGeom>
          <a:noFill/>
        </p:spPr>
        <p:txBody>
          <a:bodyPr wrap="square" lIns="36576" tIns="18288" rIns="36576" bIns="18288" anchor="t">
            <a:spAutoFit/>
          </a:bodyPr>
          <a:lstStyle/>
          <a:p>
            <a:pPr algn="l">
              <a:lnSpc>
                <a:spcPct val="110000"/>
              </a:lnSpc>
            </a:pPr>
            <a:r>
              <a:rPr sz="1300" b="0">
                <a:solidFill>
                  <a:srgbClr val="22283B"/>
                </a:solidFill>
                <a:latin typeface="Arial"/>
              </a:rPr>
              <a:t>Registro de reseñas</a:t>
            </a:r>
          </a:p>
        </p:txBody>
      </p:sp>
      <p:sp>
        <p:nvSpPr>
          <p:cNvPr id="16" name="TextBox 15"/>
          <p:cNvSpPr txBox="1"/>
          <p:nvPr/>
        </p:nvSpPr>
        <p:spPr>
          <a:xfrm>
            <a:off x="7406640" y="2514600"/>
            <a:ext cx="1828800" cy="365760"/>
          </a:xfrm>
          <a:prstGeom prst="rect">
            <a:avLst/>
          </a:prstGeom>
          <a:noFill/>
        </p:spPr>
        <p:txBody>
          <a:bodyPr wrap="square" lIns="36576" tIns="18288" rIns="36576" bIns="18288" anchor="t">
            <a:spAutoFit/>
          </a:bodyPr>
          <a:lstStyle/>
          <a:p>
            <a:pPr algn="l">
              <a:lnSpc>
                <a:spcPct val="110000"/>
              </a:lnSpc>
            </a:pPr>
            <a:r>
              <a:rPr sz="1300" b="0">
                <a:solidFill>
                  <a:srgbClr val="6B7280"/>
                </a:solidFill>
                <a:latin typeface="Arial"/>
              </a:rPr>
              <a:t>S3–S4</a:t>
            </a:r>
          </a:p>
        </p:txBody>
      </p:sp>
      <p:sp>
        <p:nvSpPr>
          <p:cNvPr id="17" name="Rounded Rectangle 16"/>
          <p:cNvSpPr/>
          <p:nvPr/>
        </p:nvSpPr>
        <p:spPr>
          <a:xfrm>
            <a:off x="9418320" y="2551176"/>
            <a:ext cx="132588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FFFF"/>
                </a:solidFill>
                <a:latin typeface="Arial"/>
              </a:rPr>
              <a:t>Completado</a:t>
            </a:r>
          </a:p>
        </p:txBody>
      </p:sp>
      <p:sp>
        <p:nvSpPr>
          <p:cNvPr id="18" name="Rectangle 17"/>
          <p:cNvSpPr/>
          <p:nvPr/>
        </p:nvSpPr>
        <p:spPr>
          <a:xfrm>
            <a:off x="640080" y="2916936"/>
            <a:ext cx="10881360" cy="47548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2990088"/>
            <a:ext cx="6583680" cy="365760"/>
          </a:xfrm>
          <a:prstGeom prst="rect">
            <a:avLst/>
          </a:prstGeom>
          <a:noFill/>
        </p:spPr>
        <p:txBody>
          <a:bodyPr wrap="square" lIns="36576" tIns="18288" rIns="36576" bIns="18288" anchor="t">
            <a:spAutoFit/>
          </a:bodyPr>
          <a:lstStyle/>
          <a:p>
            <a:pPr algn="l">
              <a:lnSpc>
                <a:spcPct val="110000"/>
              </a:lnSpc>
            </a:pPr>
            <a:r>
              <a:rPr sz="1300" b="0">
                <a:solidFill>
                  <a:srgbClr val="22283B"/>
                </a:solidFill>
                <a:latin typeface="Arial"/>
              </a:rPr>
              <a:t>Puntos y ranking</a:t>
            </a:r>
          </a:p>
        </p:txBody>
      </p:sp>
      <p:sp>
        <p:nvSpPr>
          <p:cNvPr id="20" name="TextBox 19"/>
          <p:cNvSpPr txBox="1"/>
          <p:nvPr/>
        </p:nvSpPr>
        <p:spPr>
          <a:xfrm>
            <a:off x="7406640" y="2990088"/>
            <a:ext cx="1828800" cy="365760"/>
          </a:xfrm>
          <a:prstGeom prst="rect">
            <a:avLst/>
          </a:prstGeom>
          <a:noFill/>
        </p:spPr>
        <p:txBody>
          <a:bodyPr wrap="square" lIns="36576" tIns="18288" rIns="36576" bIns="18288" anchor="t">
            <a:spAutoFit/>
          </a:bodyPr>
          <a:lstStyle/>
          <a:p>
            <a:pPr algn="l">
              <a:lnSpc>
                <a:spcPct val="110000"/>
              </a:lnSpc>
            </a:pPr>
            <a:r>
              <a:rPr sz="1300" b="0">
                <a:solidFill>
                  <a:srgbClr val="6B7280"/>
                </a:solidFill>
                <a:latin typeface="Arial"/>
              </a:rPr>
              <a:t>S5–S7</a:t>
            </a:r>
          </a:p>
        </p:txBody>
      </p:sp>
      <p:sp>
        <p:nvSpPr>
          <p:cNvPr id="21" name="Rounded Rectangle 20"/>
          <p:cNvSpPr/>
          <p:nvPr/>
        </p:nvSpPr>
        <p:spPr>
          <a:xfrm>
            <a:off x="9418320" y="3026664"/>
            <a:ext cx="132588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FFFF"/>
                </a:solidFill>
                <a:latin typeface="Arial"/>
              </a:rPr>
              <a:t>Completado</a:t>
            </a:r>
          </a:p>
        </p:txBody>
      </p:sp>
      <p:sp>
        <p:nvSpPr>
          <p:cNvPr id="22" name="Rectangle 21"/>
          <p:cNvSpPr/>
          <p:nvPr/>
        </p:nvSpPr>
        <p:spPr>
          <a:xfrm>
            <a:off x="640080" y="3392424"/>
            <a:ext cx="1088136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465576"/>
            <a:ext cx="6583680" cy="365760"/>
          </a:xfrm>
          <a:prstGeom prst="rect">
            <a:avLst/>
          </a:prstGeom>
          <a:noFill/>
        </p:spPr>
        <p:txBody>
          <a:bodyPr wrap="square" lIns="36576" tIns="18288" rIns="36576" bIns="18288" anchor="t">
            <a:spAutoFit/>
          </a:bodyPr>
          <a:lstStyle/>
          <a:p>
            <a:pPr algn="l">
              <a:lnSpc>
                <a:spcPct val="110000"/>
              </a:lnSpc>
            </a:pPr>
            <a:r>
              <a:rPr sz="1300" b="0">
                <a:solidFill>
                  <a:srgbClr val="22283B"/>
                </a:solidFill>
                <a:latin typeface="Arial"/>
              </a:rPr>
              <a:t>Prioridad en el marketplace</a:t>
            </a:r>
          </a:p>
        </p:txBody>
      </p:sp>
      <p:sp>
        <p:nvSpPr>
          <p:cNvPr id="24" name="TextBox 23"/>
          <p:cNvSpPr txBox="1"/>
          <p:nvPr/>
        </p:nvSpPr>
        <p:spPr>
          <a:xfrm>
            <a:off x="7406640" y="3465576"/>
            <a:ext cx="1828800" cy="365760"/>
          </a:xfrm>
          <a:prstGeom prst="rect">
            <a:avLst/>
          </a:prstGeom>
          <a:noFill/>
        </p:spPr>
        <p:txBody>
          <a:bodyPr wrap="square" lIns="36576" tIns="18288" rIns="36576" bIns="18288" anchor="t">
            <a:spAutoFit/>
          </a:bodyPr>
          <a:lstStyle/>
          <a:p>
            <a:pPr algn="l">
              <a:lnSpc>
                <a:spcPct val="110000"/>
              </a:lnSpc>
            </a:pPr>
            <a:r>
              <a:rPr sz="1300" b="0">
                <a:solidFill>
                  <a:srgbClr val="6B7280"/>
                </a:solidFill>
                <a:latin typeface="Arial"/>
              </a:rPr>
              <a:t>S8–S9</a:t>
            </a:r>
          </a:p>
        </p:txBody>
      </p:sp>
      <p:sp>
        <p:nvSpPr>
          <p:cNvPr id="25" name="Rounded Rectangle 24"/>
          <p:cNvSpPr/>
          <p:nvPr/>
        </p:nvSpPr>
        <p:spPr>
          <a:xfrm>
            <a:off x="9418320" y="3502152"/>
            <a:ext cx="1325880" cy="274320"/>
          </a:xfrm>
          <a:prstGeom prst="roundRect">
            <a:avLst>
              <a:gd name="adj" fmla="val 50000"/>
            </a:avLst>
          </a:prstGeom>
          <a:solidFill>
            <a:srgbClr val="C97F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FFFF"/>
                </a:solidFill>
                <a:latin typeface="Arial"/>
              </a:rPr>
              <a:t>Ajustada</a:t>
            </a:r>
          </a:p>
        </p:txBody>
      </p:sp>
      <p:sp>
        <p:nvSpPr>
          <p:cNvPr id="26" name="Rectangle 25"/>
          <p:cNvSpPr/>
          <p:nvPr/>
        </p:nvSpPr>
        <p:spPr>
          <a:xfrm>
            <a:off x="640080" y="3867912"/>
            <a:ext cx="10881360" cy="47548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3941064"/>
            <a:ext cx="6583680" cy="365760"/>
          </a:xfrm>
          <a:prstGeom prst="rect">
            <a:avLst/>
          </a:prstGeom>
          <a:noFill/>
        </p:spPr>
        <p:txBody>
          <a:bodyPr wrap="square" lIns="36576" tIns="18288" rIns="36576" bIns="18288" anchor="t">
            <a:spAutoFit/>
          </a:bodyPr>
          <a:lstStyle/>
          <a:p>
            <a:pPr algn="l">
              <a:lnSpc>
                <a:spcPct val="110000"/>
              </a:lnSpc>
            </a:pPr>
            <a:r>
              <a:rPr sz="1300" b="0">
                <a:solidFill>
                  <a:srgbClr val="22283B"/>
                </a:solidFill>
                <a:latin typeface="Arial"/>
              </a:rPr>
              <a:t>Dashboard de métricas</a:t>
            </a:r>
          </a:p>
        </p:txBody>
      </p:sp>
      <p:sp>
        <p:nvSpPr>
          <p:cNvPr id="28" name="TextBox 27"/>
          <p:cNvSpPr txBox="1"/>
          <p:nvPr/>
        </p:nvSpPr>
        <p:spPr>
          <a:xfrm>
            <a:off x="7406640" y="3941064"/>
            <a:ext cx="1828800" cy="365760"/>
          </a:xfrm>
          <a:prstGeom prst="rect">
            <a:avLst/>
          </a:prstGeom>
          <a:noFill/>
        </p:spPr>
        <p:txBody>
          <a:bodyPr wrap="square" lIns="36576" tIns="18288" rIns="36576" bIns="18288" anchor="t">
            <a:spAutoFit/>
          </a:bodyPr>
          <a:lstStyle/>
          <a:p>
            <a:pPr algn="l">
              <a:lnSpc>
                <a:spcPct val="110000"/>
              </a:lnSpc>
            </a:pPr>
            <a:r>
              <a:rPr sz="1300" b="0">
                <a:solidFill>
                  <a:srgbClr val="6B7280"/>
                </a:solidFill>
                <a:latin typeface="Arial"/>
              </a:rPr>
              <a:t>S10–S11</a:t>
            </a:r>
          </a:p>
        </p:txBody>
      </p:sp>
      <p:sp>
        <p:nvSpPr>
          <p:cNvPr id="29" name="Rounded Rectangle 28"/>
          <p:cNvSpPr/>
          <p:nvPr/>
        </p:nvSpPr>
        <p:spPr>
          <a:xfrm>
            <a:off x="9418320" y="3977640"/>
            <a:ext cx="1325880" cy="27432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FFFF"/>
                </a:solidFill>
                <a:latin typeface="Arial"/>
              </a:rPr>
              <a:t>Completado</a:t>
            </a:r>
          </a:p>
        </p:txBody>
      </p:sp>
      <p:sp>
        <p:nvSpPr>
          <p:cNvPr id="30" name="Rectangle 29"/>
          <p:cNvSpPr/>
          <p:nvPr/>
        </p:nvSpPr>
        <p:spPr>
          <a:xfrm>
            <a:off x="640080" y="4343400"/>
            <a:ext cx="1088136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4416552"/>
            <a:ext cx="6583680" cy="365760"/>
          </a:xfrm>
          <a:prstGeom prst="rect">
            <a:avLst/>
          </a:prstGeom>
          <a:noFill/>
        </p:spPr>
        <p:txBody>
          <a:bodyPr wrap="square" lIns="36576" tIns="18288" rIns="36576" bIns="18288" anchor="t">
            <a:spAutoFit/>
          </a:bodyPr>
          <a:lstStyle/>
          <a:p>
            <a:pPr algn="l">
              <a:lnSpc>
                <a:spcPct val="110000"/>
              </a:lnSpc>
            </a:pPr>
            <a:r>
              <a:rPr sz="1300" b="0">
                <a:solidFill>
                  <a:srgbClr val="22283B"/>
                </a:solidFill>
                <a:latin typeface="Arial"/>
              </a:rPr>
              <a:t>Cierre e integración</a:t>
            </a:r>
          </a:p>
        </p:txBody>
      </p:sp>
      <p:sp>
        <p:nvSpPr>
          <p:cNvPr id="32" name="TextBox 31"/>
          <p:cNvSpPr txBox="1"/>
          <p:nvPr/>
        </p:nvSpPr>
        <p:spPr>
          <a:xfrm>
            <a:off x="7406640" y="4416552"/>
            <a:ext cx="1828800" cy="365760"/>
          </a:xfrm>
          <a:prstGeom prst="rect">
            <a:avLst/>
          </a:prstGeom>
          <a:noFill/>
        </p:spPr>
        <p:txBody>
          <a:bodyPr wrap="square" lIns="36576" tIns="18288" rIns="36576" bIns="18288" anchor="t">
            <a:spAutoFit/>
          </a:bodyPr>
          <a:lstStyle/>
          <a:p>
            <a:pPr algn="l">
              <a:lnSpc>
                <a:spcPct val="110000"/>
              </a:lnSpc>
            </a:pPr>
            <a:r>
              <a:rPr sz="1300" b="0">
                <a:solidFill>
                  <a:srgbClr val="6B7280"/>
                </a:solidFill>
                <a:latin typeface="Arial"/>
              </a:rPr>
              <a:t>S12–S13</a:t>
            </a:r>
          </a:p>
        </p:txBody>
      </p:sp>
      <p:sp>
        <p:nvSpPr>
          <p:cNvPr id="33" name="Rounded Rectangle 32"/>
          <p:cNvSpPr/>
          <p:nvPr/>
        </p:nvSpPr>
        <p:spPr>
          <a:xfrm>
            <a:off x="9418320" y="4453128"/>
            <a:ext cx="1325880" cy="274320"/>
          </a:xfrm>
          <a:prstGeom prst="roundRect">
            <a:avLst>
              <a:gd name="adj" fmla="val 50000"/>
            </a:avLst>
          </a:prstGeom>
          <a:solidFill>
            <a:srgbClr val="C97F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FFFF"/>
                </a:solidFill>
                <a:latin typeface="Arial"/>
              </a:rPr>
              <a:t>En curso</a:t>
            </a:r>
          </a:p>
        </p:txBody>
      </p:sp>
      <p:sp>
        <p:nvSpPr>
          <p:cNvPr id="34" name="Rectangle 33"/>
          <p:cNvSpPr/>
          <p:nvPr/>
        </p:nvSpPr>
        <p:spPr>
          <a:xfrm>
            <a:off x="640080" y="4818888"/>
            <a:ext cx="10881360" cy="475488"/>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4892040"/>
            <a:ext cx="6583680" cy="365760"/>
          </a:xfrm>
          <a:prstGeom prst="rect">
            <a:avLst/>
          </a:prstGeom>
          <a:noFill/>
        </p:spPr>
        <p:txBody>
          <a:bodyPr wrap="square" lIns="36576" tIns="18288" rIns="36576" bIns="18288" anchor="t">
            <a:spAutoFit/>
          </a:bodyPr>
          <a:lstStyle/>
          <a:p>
            <a:pPr algn="l">
              <a:lnSpc>
                <a:spcPct val="110000"/>
              </a:lnSpc>
            </a:pPr>
            <a:r>
              <a:rPr sz="1300" b="0">
                <a:solidFill>
                  <a:srgbClr val="22283B"/>
                </a:solidFill>
                <a:latin typeface="Arial"/>
              </a:rPr>
              <a:t>Sitio público para familias y cuidadoras (agregada)</a:t>
            </a:r>
          </a:p>
        </p:txBody>
      </p:sp>
      <p:sp>
        <p:nvSpPr>
          <p:cNvPr id="36" name="TextBox 35"/>
          <p:cNvSpPr txBox="1"/>
          <p:nvPr/>
        </p:nvSpPr>
        <p:spPr>
          <a:xfrm>
            <a:off x="7406640" y="4892040"/>
            <a:ext cx="1828800" cy="365760"/>
          </a:xfrm>
          <a:prstGeom prst="rect">
            <a:avLst/>
          </a:prstGeom>
          <a:noFill/>
        </p:spPr>
        <p:txBody>
          <a:bodyPr wrap="square" lIns="36576" tIns="18288" rIns="36576" bIns="18288" anchor="t">
            <a:spAutoFit/>
          </a:bodyPr>
          <a:lstStyle/>
          <a:p>
            <a:pPr algn="l">
              <a:lnSpc>
                <a:spcPct val="110000"/>
              </a:lnSpc>
            </a:pPr>
            <a:r>
              <a:rPr sz="1300" b="0">
                <a:solidFill>
                  <a:srgbClr val="6B7280"/>
                </a:solidFill>
                <a:latin typeface="Arial"/>
              </a:rPr>
              <a:t>en paralelo</a:t>
            </a:r>
          </a:p>
        </p:txBody>
      </p:sp>
      <p:sp>
        <p:nvSpPr>
          <p:cNvPr id="37" name="Rounded Rectangle 36"/>
          <p:cNvSpPr/>
          <p:nvPr/>
        </p:nvSpPr>
        <p:spPr>
          <a:xfrm>
            <a:off x="9418320" y="4928616"/>
            <a:ext cx="1325880" cy="274320"/>
          </a:xfrm>
          <a:prstGeom prst="roundRect">
            <a:avLst>
              <a:gd name="adj" fmla="val 50000"/>
            </a:avLst>
          </a:prstGeom>
          <a:solidFill>
            <a:srgbClr val="C97F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a:solidFill>
                  <a:srgbClr val="FFFFFF"/>
                </a:solidFill>
                <a:latin typeface="Arial"/>
              </a:rPr>
              <a:t>En curso</a:t>
            </a:r>
          </a:p>
        </p:txBody>
      </p:sp>
      <p:sp>
        <p:nvSpPr>
          <p:cNvPr id="38" name="TextBox 37"/>
          <p:cNvSpPr txBox="1"/>
          <p:nvPr/>
        </p:nvSpPr>
        <p:spPr>
          <a:xfrm>
            <a:off x="640080" y="5669280"/>
            <a:ext cx="10881360" cy="731520"/>
          </a:xfrm>
          <a:prstGeom prst="rect">
            <a:avLst/>
          </a:prstGeom>
          <a:noFill/>
        </p:spPr>
        <p:txBody>
          <a:bodyPr wrap="square" lIns="36576" tIns="18288" rIns="36576" bIns="18288" anchor="t">
            <a:spAutoFit/>
          </a:bodyPr>
          <a:lstStyle/>
          <a:p>
            <a:pPr algn="l">
              <a:lnSpc>
                <a:spcPct val="115000"/>
              </a:lnSpc>
            </a:pPr>
            <a:r>
              <a:rPr sz="1250" b="0">
                <a:solidFill>
                  <a:srgbClr val="6B7280"/>
                </a:solidFill>
                <a:latin typeface="Arial"/>
              </a:rPr>
              <a:t>Los seis endpoints comprometidos están construidos. La prioridad en el marketplace se resolvió ordenando por destacadas y valoración; falta conectar el puntaje con la marca «Destacada». El cierre está en curso.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515600" cy="274320"/>
          </a:xfrm>
          <a:prstGeom prst="rect">
            <a:avLst/>
          </a:prstGeom>
          <a:noFill/>
        </p:spPr>
        <p:txBody>
          <a:bodyPr wrap="square" lIns="36576" tIns="18288" rIns="36576" bIns="18288" anchor="t">
            <a:spAutoFit/>
          </a:bodyPr>
          <a:lstStyle/>
          <a:p>
            <a:pPr algn="l">
              <a:lnSpc>
                <a:spcPct val="110000"/>
              </a:lnSpc>
            </a:pPr>
            <a:r>
              <a:rPr sz="1150" b="1">
                <a:solidFill>
                  <a:srgbClr val="C97F32"/>
                </a:solidFill>
                <a:latin typeface="Arial"/>
              </a:rPr>
              <a:t>NUESTRO ENCARGO TÉCNICO</a:t>
            </a:r>
          </a:p>
        </p:txBody>
      </p:sp>
      <p:sp>
        <p:nvSpPr>
          <p:cNvPr id="3" name="TextBox 2"/>
          <p:cNvSpPr txBox="1"/>
          <p:nvPr/>
        </p:nvSpPr>
        <p:spPr>
          <a:xfrm>
            <a:off x="640080" y="713232"/>
            <a:ext cx="10881360" cy="640080"/>
          </a:xfrm>
          <a:prstGeom prst="rect">
            <a:avLst/>
          </a:prstGeom>
          <a:noFill/>
        </p:spPr>
        <p:txBody>
          <a:bodyPr wrap="square" lIns="36576" tIns="18288" rIns="36576" bIns="18288" anchor="t">
            <a:spAutoFit/>
          </a:bodyPr>
          <a:lstStyle/>
          <a:p>
            <a:pPr algn="l">
              <a:lnSpc>
                <a:spcPct val="110000"/>
              </a:lnSpc>
            </a:pPr>
            <a:r>
              <a:rPr sz="3000" b="1">
                <a:solidFill>
                  <a:srgbClr val="1E2761"/>
                </a:solidFill>
                <a:latin typeface="Arial"/>
              </a:rPr>
              <a:t>Los seis endpoints, construidos</a:t>
            </a:r>
          </a:p>
        </p:txBody>
      </p:sp>
      <p:sp>
        <p:nvSpPr>
          <p:cNvPr id="4" name="TextBox 3"/>
          <p:cNvSpPr txBox="1"/>
          <p:nvPr/>
        </p:nvSpPr>
        <p:spPr>
          <a:xfrm>
            <a:off x="640080" y="6446520"/>
            <a:ext cx="8229600" cy="274320"/>
          </a:xfrm>
          <a:prstGeom prst="rect">
            <a:avLst/>
          </a:prstGeom>
          <a:noFill/>
        </p:spPr>
        <p:txBody>
          <a:bodyPr wrap="square" lIns="36576" tIns="18288" rIns="36576" bIns="18288" anchor="t">
            <a:spAutoFit/>
          </a:bodyPr>
          <a:lstStyle/>
          <a:p>
            <a:pPr algn="l">
              <a:lnSpc>
                <a:spcPct val="110000"/>
              </a:lnSpc>
            </a:pPr>
            <a:r>
              <a:rPr sz="900" b="0">
                <a:solidFill>
                  <a:srgbClr val="9AA5B1"/>
                </a:solidFill>
                <a:latin typeface="Arial"/>
              </a:rPr>
              <a:t>AgeCare · Marketing y Fidelización · Avance Proyecto APT (Fase 2)</a:t>
            </a:r>
          </a:p>
        </p:txBody>
      </p:sp>
      <p:sp>
        <p:nvSpPr>
          <p:cNvPr id="5" name="TextBox 4"/>
          <p:cNvSpPr txBox="1"/>
          <p:nvPr/>
        </p:nvSpPr>
        <p:spPr>
          <a:xfrm>
            <a:off x="10972800" y="6446520"/>
            <a:ext cx="640080" cy="177421"/>
          </a:xfrm>
          <a:prstGeom prst="rect">
            <a:avLst/>
          </a:prstGeom>
          <a:noFill/>
        </p:spPr>
        <p:txBody>
          <a:bodyPr wrap="square" lIns="36576" tIns="18288" rIns="36576" bIns="18288" anchor="t">
            <a:spAutoFit/>
          </a:bodyPr>
          <a:lstStyle/>
          <a:p>
            <a:pPr algn="r">
              <a:lnSpc>
                <a:spcPct val="110000"/>
              </a:lnSpc>
            </a:pPr>
            <a:r>
              <a:rPr lang="es-CL" sz="900" b="0">
                <a:solidFill>
                  <a:srgbClr val="9AA5B1"/>
                </a:solidFill>
                <a:latin typeface="Arial"/>
              </a:rPr>
              <a:t>4</a:t>
            </a:r>
            <a:endParaRPr sz="900" b="0">
              <a:solidFill>
                <a:srgbClr val="9AA5B1"/>
              </a:solidFill>
              <a:latin typeface="Arial"/>
            </a:endParaRPr>
          </a:p>
        </p:txBody>
      </p:sp>
      <p:sp>
        <p:nvSpPr>
          <p:cNvPr id="6" name="Rectangle 5"/>
          <p:cNvSpPr/>
          <p:nvPr/>
        </p:nvSpPr>
        <p:spPr>
          <a:xfrm>
            <a:off x="640080" y="1508760"/>
            <a:ext cx="10881360" cy="411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63624"/>
            <a:ext cx="4572000" cy="320040"/>
          </a:xfrm>
          <a:prstGeom prst="rect">
            <a:avLst/>
          </a:prstGeom>
          <a:noFill/>
        </p:spPr>
        <p:txBody>
          <a:bodyPr wrap="square" lIns="36576" tIns="18288" rIns="36576" bIns="18288" anchor="t">
            <a:spAutoFit/>
          </a:bodyPr>
          <a:lstStyle/>
          <a:p>
            <a:pPr algn="l">
              <a:lnSpc>
                <a:spcPct val="110000"/>
              </a:lnSpc>
            </a:pPr>
            <a:r>
              <a:rPr sz="1200" b="1">
                <a:solidFill>
                  <a:srgbClr val="FFFFFF"/>
                </a:solidFill>
                <a:latin typeface="Arial"/>
              </a:rPr>
              <a:t>Endpoint</a:t>
            </a:r>
          </a:p>
        </p:txBody>
      </p:sp>
      <p:sp>
        <p:nvSpPr>
          <p:cNvPr id="8" name="TextBox 7"/>
          <p:cNvSpPr txBox="1"/>
          <p:nvPr/>
        </p:nvSpPr>
        <p:spPr>
          <a:xfrm>
            <a:off x="5760720" y="1563624"/>
            <a:ext cx="914400" cy="320040"/>
          </a:xfrm>
          <a:prstGeom prst="rect">
            <a:avLst/>
          </a:prstGeom>
          <a:noFill/>
        </p:spPr>
        <p:txBody>
          <a:bodyPr wrap="square" lIns="36576" tIns="18288" rIns="36576" bIns="18288" anchor="t">
            <a:spAutoFit/>
          </a:bodyPr>
          <a:lstStyle/>
          <a:p>
            <a:pPr algn="l">
              <a:lnSpc>
                <a:spcPct val="110000"/>
              </a:lnSpc>
            </a:pPr>
            <a:r>
              <a:rPr sz="1200" b="1">
                <a:solidFill>
                  <a:srgbClr val="FFFFFF"/>
                </a:solidFill>
                <a:latin typeface="Arial"/>
              </a:rPr>
              <a:t>Método</a:t>
            </a:r>
          </a:p>
        </p:txBody>
      </p:sp>
      <p:sp>
        <p:nvSpPr>
          <p:cNvPr id="9" name="TextBox 8"/>
          <p:cNvSpPr txBox="1"/>
          <p:nvPr/>
        </p:nvSpPr>
        <p:spPr>
          <a:xfrm>
            <a:off x="6766560" y="1563624"/>
            <a:ext cx="3657600" cy="320040"/>
          </a:xfrm>
          <a:prstGeom prst="rect">
            <a:avLst/>
          </a:prstGeom>
          <a:noFill/>
        </p:spPr>
        <p:txBody>
          <a:bodyPr wrap="square" lIns="36576" tIns="18288" rIns="36576" bIns="18288" anchor="t">
            <a:spAutoFit/>
          </a:bodyPr>
          <a:lstStyle/>
          <a:p>
            <a:pPr algn="l">
              <a:lnSpc>
                <a:spcPct val="110000"/>
              </a:lnSpc>
            </a:pPr>
            <a:r>
              <a:rPr sz="1200" b="1">
                <a:solidFill>
                  <a:srgbClr val="FFFFFF"/>
                </a:solidFill>
                <a:latin typeface="Arial"/>
              </a:rPr>
              <a:t>Qué hace</a:t>
            </a:r>
          </a:p>
        </p:txBody>
      </p:sp>
      <p:sp>
        <p:nvSpPr>
          <p:cNvPr id="10" name="TextBox 9"/>
          <p:cNvSpPr txBox="1"/>
          <p:nvPr/>
        </p:nvSpPr>
        <p:spPr>
          <a:xfrm>
            <a:off x="10241280" y="1563624"/>
            <a:ext cx="1280160" cy="320040"/>
          </a:xfrm>
          <a:prstGeom prst="rect">
            <a:avLst/>
          </a:prstGeom>
          <a:noFill/>
        </p:spPr>
        <p:txBody>
          <a:bodyPr wrap="square" lIns="36576" tIns="18288" rIns="36576" bIns="18288" anchor="t">
            <a:spAutoFit/>
          </a:bodyPr>
          <a:lstStyle/>
          <a:p>
            <a:pPr algn="l">
              <a:lnSpc>
                <a:spcPct val="110000"/>
              </a:lnSpc>
            </a:pPr>
            <a:r>
              <a:rPr sz="1200" b="1">
                <a:solidFill>
                  <a:srgbClr val="FFFFFF"/>
                </a:solidFill>
                <a:latin typeface="Arial"/>
              </a:rPr>
              <a:t>Estado</a:t>
            </a:r>
          </a:p>
        </p:txBody>
      </p:sp>
      <p:sp>
        <p:nvSpPr>
          <p:cNvPr id="11" name="Rectangle 10"/>
          <p:cNvSpPr/>
          <p:nvPr/>
        </p:nvSpPr>
        <p:spPr>
          <a:xfrm>
            <a:off x="640080" y="1920240"/>
            <a:ext cx="10881360" cy="530352"/>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048256"/>
            <a:ext cx="4937760" cy="228845"/>
          </a:xfrm>
          <a:prstGeom prst="rect">
            <a:avLst/>
          </a:prstGeom>
          <a:noFill/>
        </p:spPr>
        <p:txBody>
          <a:bodyPr wrap="square" lIns="36576" tIns="18288" rIns="36576" bIns="18288" anchor="t">
            <a:spAutoFit/>
          </a:bodyPr>
          <a:lstStyle/>
          <a:p>
            <a:pPr algn="l">
              <a:lnSpc>
                <a:spcPct val="110000"/>
              </a:lnSpc>
            </a:pPr>
            <a:r>
              <a:rPr sz="1200" b="0">
                <a:solidFill>
                  <a:srgbClr val="22283B"/>
                </a:solidFill>
                <a:latin typeface="Consolas"/>
              </a:rPr>
              <a:t>/admin/marketplace/caregivers</a:t>
            </a:r>
          </a:p>
        </p:txBody>
      </p:sp>
      <p:sp>
        <p:nvSpPr>
          <p:cNvPr id="13" name="TextBox 12"/>
          <p:cNvSpPr txBox="1"/>
          <p:nvPr/>
        </p:nvSpPr>
        <p:spPr>
          <a:xfrm>
            <a:off x="5760720" y="2048256"/>
            <a:ext cx="914400" cy="224357"/>
          </a:xfrm>
          <a:prstGeom prst="rect">
            <a:avLst/>
          </a:prstGeom>
          <a:noFill/>
        </p:spPr>
        <p:txBody>
          <a:bodyPr wrap="square" lIns="36576" tIns="18288" rIns="36576" bIns="18288" anchor="t">
            <a:spAutoFit/>
          </a:bodyPr>
          <a:lstStyle/>
          <a:p>
            <a:pPr algn="l">
              <a:lnSpc>
                <a:spcPct val="110000"/>
              </a:lnSpc>
            </a:pPr>
            <a:r>
              <a:rPr sz="1200" b="1">
                <a:solidFill>
                  <a:srgbClr val="1E2761"/>
                </a:solidFill>
                <a:latin typeface="Arial"/>
              </a:rPr>
              <a:t>GET</a:t>
            </a:r>
          </a:p>
        </p:txBody>
      </p:sp>
      <p:sp>
        <p:nvSpPr>
          <p:cNvPr id="14" name="TextBox 13"/>
          <p:cNvSpPr txBox="1"/>
          <p:nvPr/>
        </p:nvSpPr>
        <p:spPr>
          <a:xfrm>
            <a:off x="6766560" y="2011680"/>
            <a:ext cx="3474720" cy="221599"/>
          </a:xfrm>
          <a:prstGeom prst="rect">
            <a:avLst/>
          </a:prstGeom>
          <a:noFill/>
        </p:spPr>
        <p:txBody>
          <a:bodyPr wrap="square" lIns="36576" tIns="18288" rIns="36576" bIns="18288" anchor="t">
            <a:spAutoFit/>
          </a:bodyPr>
          <a:lstStyle/>
          <a:p>
            <a:pPr algn="l">
              <a:lnSpc>
                <a:spcPct val="100000"/>
              </a:lnSpc>
            </a:pPr>
            <a:r>
              <a:rPr sz="1200" b="0">
                <a:solidFill>
                  <a:srgbClr val="22283B"/>
                </a:solidFill>
                <a:latin typeface="Arial"/>
              </a:rPr>
              <a:t>Lista las cuidadoras del marketplace.</a:t>
            </a:r>
          </a:p>
        </p:txBody>
      </p:sp>
      <p:sp>
        <p:nvSpPr>
          <p:cNvPr id="15" name="Rounded Rectangle 14"/>
          <p:cNvSpPr/>
          <p:nvPr/>
        </p:nvSpPr>
        <p:spPr>
          <a:xfrm>
            <a:off x="10241280" y="2048256"/>
            <a:ext cx="1188720" cy="256032"/>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00" b="1">
                <a:solidFill>
                  <a:srgbClr val="FFFFFF"/>
                </a:solidFill>
                <a:latin typeface="Arial"/>
              </a:rPr>
              <a:t>YA EXISTÍA</a:t>
            </a:r>
          </a:p>
        </p:txBody>
      </p:sp>
      <p:sp>
        <p:nvSpPr>
          <p:cNvPr id="16" name="Rectangle 15"/>
          <p:cNvSpPr/>
          <p:nvPr/>
        </p:nvSpPr>
        <p:spPr>
          <a:xfrm>
            <a:off x="640080" y="2450592"/>
            <a:ext cx="1088136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2578608"/>
            <a:ext cx="4937760" cy="228845"/>
          </a:xfrm>
          <a:prstGeom prst="rect">
            <a:avLst/>
          </a:prstGeom>
          <a:noFill/>
        </p:spPr>
        <p:txBody>
          <a:bodyPr wrap="square" lIns="36576" tIns="18288" rIns="36576" bIns="18288" anchor="t">
            <a:spAutoFit/>
          </a:bodyPr>
          <a:lstStyle/>
          <a:p>
            <a:pPr algn="l">
              <a:lnSpc>
                <a:spcPct val="110000"/>
              </a:lnSpc>
            </a:pPr>
            <a:r>
              <a:rPr sz="1200" b="0">
                <a:solidFill>
                  <a:srgbClr val="22283B"/>
                </a:solidFill>
                <a:latin typeface="Consolas"/>
              </a:rPr>
              <a:t>/admin/marketplace/caregivers/{id}</a:t>
            </a:r>
          </a:p>
        </p:txBody>
      </p:sp>
      <p:sp>
        <p:nvSpPr>
          <p:cNvPr id="18" name="TextBox 17"/>
          <p:cNvSpPr txBox="1"/>
          <p:nvPr/>
        </p:nvSpPr>
        <p:spPr>
          <a:xfrm>
            <a:off x="5760720" y="2578608"/>
            <a:ext cx="914400" cy="224357"/>
          </a:xfrm>
          <a:prstGeom prst="rect">
            <a:avLst/>
          </a:prstGeom>
          <a:noFill/>
        </p:spPr>
        <p:txBody>
          <a:bodyPr wrap="square" lIns="36576" tIns="18288" rIns="36576" bIns="18288" anchor="t">
            <a:spAutoFit/>
          </a:bodyPr>
          <a:lstStyle/>
          <a:p>
            <a:pPr algn="l">
              <a:lnSpc>
                <a:spcPct val="110000"/>
              </a:lnSpc>
            </a:pPr>
            <a:r>
              <a:rPr sz="1200" b="1">
                <a:solidFill>
                  <a:srgbClr val="1E2761"/>
                </a:solidFill>
                <a:latin typeface="Arial"/>
              </a:rPr>
              <a:t>GET</a:t>
            </a:r>
          </a:p>
        </p:txBody>
      </p:sp>
      <p:sp>
        <p:nvSpPr>
          <p:cNvPr id="19" name="TextBox 18"/>
          <p:cNvSpPr txBox="1"/>
          <p:nvPr/>
        </p:nvSpPr>
        <p:spPr>
          <a:xfrm>
            <a:off x="6766560" y="2542032"/>
            <a:ext cx="3474720" cy="221599"/>
          </a:xfrm>
          <a:prstGeom prst="rect">
            <a:avLst/>
          </a:prstGeom>
          <a:noFill/>
        </p:spPr>
        <p:txBody>
          <a:bodyPr wrap="square" lIns="36576" tIns="18288" rIns="36576" bIns="18288" anchor="t">
            <a:spAutoFit/>
          </a:bodyPr>
          <a:lstStyle/>
          <a:p>
            <a:pPr algn="l">
              <a:lnSpc>
                <a:spcPct val="100000"/>
              </a:lnSpc>
            </a:pPr>
            <a:r>
              <a:rPr sz="1200" b="0">
                <a:solidFill>
                  <a:srgbClr val="22283B"/>
                </a:solidFill>
                <a:latin typeface="Arial"/>
              </a:rPr>
              <a:t>Detalle de una cuidadora, con sus documentos.</a:t>
            </a:r>
          </a:p>
        </p:txBody>
      </p:sp>
      <p:sp>
        <p:nvSpPr>
          <p:cNvPr id="20" name="Rounded Rectangle 19"/>
          <p:cNvSpPr/>
          <p:nvPr/>
        </p:nvSpPr>
        <p:spPr>
          <a:xfrm>
            <a:off x="10241280" y="2578608"/>
            <a:ext cx="1188720" cy="256032"/>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00" b="1">
                <a:solidFill>
                  <a:srgbClr val="FFFFFF"/>
                </a:solidFill>
                <a:latin typeface="Arial"/>
              </a:rPr>
              <a:t>YA EXISTÍA</a:t>
            </a:r>
          </a:p>
        </p:txBody>
      </p:sp>
      <p:sp>
        <p:nvSpPr>
          <p:cNvPr id="21" name="Rectangle 20"/>
          <p:cNvSpPr/>
          <p:nvPr/>
        </p:nvSpPr>
        <p:spPr>
          <a:xfrm>
            <a:off x="640080" y="2980944"/>
            <a:ext cx="10881360" cy="530352"/>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3108960"/>
            <a:ext cx="4937760" cy="228845"/>
          </a:xfrm>
          <a:prstGeom prst="rect">
            <a:avLst/>
          </a:prstGeom>
          <a:noFill/>
        </p:spPr>
        <p:txBody>
          <a:bodyPr wrap="square" lIns="36576" tIns="18288" rIns="36576" bIns="18288" anchor="t">
            <a:spAutoFit/>
          </a:bodyPr>
          <a:lstStyle/>
          <a:p>
            <a:pPr algn="l">
              <a:lnSpc>
                <a:spcPct val="110000"/>
              </a:lnSpc>
            </a:pPr>
            <a:r>
              <a:rPr sz="1200" b="0">
                <a:solidFill>
                  <a:srgbClr val="22283B"/>
                </a:solidFill>
                <a:latin typeface="Consolas"/>
              </a:rPr>
              <a:t>/admin/marketplace/reviews</a:t>
            </a:r>
          </a:p>
        </p:txBody>
      </p:sp>
      <p:sp>
        <p:nvSpPr>
          <p:cNvPr id="23" name="TextBox 22"/>
          <p:cNvSpPr txBox="1"/>
          <p:nvPr/>
        </p:nvSpPr>
        <p:spPr>
          <a:xfrm>
            <a:off x="5760720" y="3108960"/>
            <a:ext cx="914400" cy="224357"/>
          </a:xfrm>
          <a:prstGeom prst="rect">
            <a:avLst/>
          </a:prstGeom>
          <a:noFill/>
        </p:spPr>
        <p:txBody>
          <a:bodyPr wrap="square" lIns="36576" tIns="18288" rIns="36576" bIns="18288" anchor="t">
            <a:spAutoFit/>
          </a:bodyPr>
          <a:lstStyle/>
          <a:p>
            <a:pPr algn="l">
              <a:lnSpc>
                <a:spcPct val="110000"/>
              </a:lnSpc>
            </a:pPr>
            <a:r>
              <a:rPr sz="1200" b="1">
                <a:solidFill>
                  <a:srgbClr val="1E2761"/>
                </a:solidFill>
                <a:latin typeface="Arial"/>
              </a:rPr>
              <a:t>POST</a:t>
            </a:r>
          </a:p>
        </p:txBody>
      </p:sp>
      <p:sp>
        <p:nvSpPr>
          <p:cNvPr id="24" name="TextBox 23"/>
          <p:cNvSpPr txBox="1"/>
          <p:nvPr/>
        </p:nvSpPr>
        <p:spPr>
          <a:xfrm>
            <a:off x="6766560" y="3072384"/>
            <a:ext cx="3474720" cy="411480"/>
          </a:xfrm>
          <a:prstGeom prst="rect">
            <a:avLst/>
          </a:prstGeom>
          <a:noFill/>
        </p:spPr>
        <p:txBody>
          <a:bodyPr wrap="square" lIns="36576" tIns="18288" rIns="36576" bIns="18288" anchor="t">
            <a:spAutoFit/>
          </a:bodyPr>
          <a:lstStyle/>
          <a:p>
            <a:pPr algn="l">
              <a:lnSpc>
                <a:spcPct val="100000"/>
              </a:lnSpc>
            </a:pPr>
            <a:r>
              <a:rPr sz="1200" b="0">
                <a:solidFill>
                  <a:srgbClr val="22283B"/>
                </a:solidFill>
                <a:latin typeface="Arial"/>
              </a:rPr>
              <a:t>Registra la reseña de la familia al terminar un trabajo.</a:t>
            </a:r>
          </a:p>
        </p:txBody>
      </p:sp>
      <p:sp>
        <p:nvSpPr>
          <p:cNvPr id="25" name="Rounded Rectangle 24"/>
          <p:cNvSpPr/>
          <p:nvPr/>
        </p:nvSpPr>
        <p:spPr>
          <a:xfrm>
            <a:off x="10241280" y="3108960"/>
            <a:ext cx="1188720" cy="256032"/>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00" b="1">
                <a:solidFill>
                  <a:srgbClr val="FFFFFF"/>
                </a:solidFill>
                <a:latin typeface="Arial"/>
              </a:rPr>
              <a:t>HECHO</a:t>
            </a:r>
          </a:p>
        </p:txBody>
      </p:sp>
      <p:sp>
        <p:nvSpPr>
          <p:cNvPr id="26" name="Rectangle 25"/>
          <p:cNvSpPr/>
          <p:nvPr/>
        </p:nvSpPr>
        <p:spPr>
          <a:xfrm>
            <a:off x="640080" y="3511296"/>
            <a:ext cx="1088136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3639312"/>
            <a:ext cx="4937760" cy="228845"/>
          </a:xfrm>
          <a:prstGeom prst="rect">
            <a:avLst/>
          </a:prstGeom>
          <a:noFill/>
        </p:spPr>
        <p:txBody>
          <a:bodyPr wrap="square" lIns="36576" tIns="18288" rIns="36576" bIns="18288" anchor="t">
            <a:spAutoFit/>
          </a:bodyPr>
          <a:lstStyle/>
          <a:p>
            <a:pPr algn="l">
              <a:lnSpc>
                <a:spcPct val="110000"/>
              </a:lnSpc>
            </a:pPr>
            <a:r>
              <a:rPr sz="1200" b="0">
                <a:solidFill>
                  <a:srgbClr val="22283B"/>
                </a:solidFill>
                <a:latin typeface="Consolas"/>
              </a:rPr>
              <a:t>/admin/marketplace/caregivers/{id}/points</a:t>
            </a:r>
          </a:p>
        </p:txBody>
      </p:sp>
      <p:sp>
        <p:nvSpPr>
          <p:cNvPr id="28" name="TextBox 27"/>
          <p:cNvSpPr txBox="1"/>
          <p:nvPr/>
        </p:nvSpPr>
        <p:spPr>
          <a:xfrm>
            <a:off x="5760720" y="3639312"/>
            <a:ext cx="914400" cy="224357"/>
          </a:xfrm>
          <a:prstGeom prst="rect">
            <a:avLst/>
          </a:prstGeom>
          <a:noFill/>
        </p:spPr>
        <p:txBody>
          <a:bodyPr wrap="square" lIns="36576" tIns="18288" rIns="36576" bIns="18288" anchor="t">
            <a:spAutoFit/>
          </a:bodyPr>
          <a:lstStyle/>
          <a:p>
            <a:pPr algn="l">
              <a:lnSpc>
                <a:spcPct val="110000"/>
              </a:lnSpc>
            </a:pPr>
            <a:r>
              <a:rPr sz="1200" b="1">
                <a:solidFill>
                  <a:srgbClr val="1E2761"/>
                </a:solidFill>
                <a:latin typeface="Arial"/>
              </a:rPr>
              <a:t>POST</a:t>
            </a:r>
          </a:p>
        </p:txBody>
      </p:sp>
      <p:sp>
        <p:nvSpPr>
          <p:cNvPr id="29" name="TextBox 28"/>
          <p:cNvSpPr txBox="1"/>
          <p:nvPr/>
        </p:nvSpPr>
        <p:spPr>
          <a:xfrm>
            <a:off x="6766560" y="3602736"/>
            <a:ext cx="3474720" cy="411480"/>
          </a:xfrm>
          <a:prstGeom prst="rect">
            <a:avLst/>
          </a:prstGeom>
          <a:noFill/>
        </p:spPr>
        <p:txBody>
          <a:bodyPr wrap="square" lIns="36576" tIns="18288" rIns="36576" bIns="18288" anchor="t">
            <a:spAutoFit/>
          </a:bodyPr>
          <a:lstStyle/>
          <a:p>
            <a:pPr algn="l">
              <a:lnSpc>
                <a:spcPct val="100000"/>
              </a:lnSpc>
            </a:pPr>
            <a:r>
              <a:rPr sz="1200" b="0">
                <a:solidFill>
                  <a:srgbClr val="22283B"/>
                </a:solidFill>
                <a:latin typeface="Arial"/>
              </a:rPr>
              <a:t>Suma puntos por trabajo completado o buena reseña.</a:t>
            </a:r>
          </a:p>
        </p:txBody>
      </p:sp>
      <p:sp>
        <p:nvSpPr>
          <p:cNvPr id="30" name="Rounded Rectangle 29"/>
          <p:cNvSpPr/>
          <p:nvPr/>
        </p:nvSpPr>
        <p:spPr>
          <a:xfrm>
            <a:off x="10241280" y="3639312"/>
            <a:ext cx="1188720" cy="256032"/>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00" b="1">
                <a:solidFill>
                  <a:srgbClr val="FFFFFF"/>
                </a:solidFill>
                <a:latin typeface="Arial"/>
              </a:rPr>
              <a:t>HECHO</a:t>
            </a:r>
          </a:p>
        </p:txBody>
      </p:sp>
      <p:sp>
        <p:nvSpPr>
          <p:cNvPr id="31" name="Rectangle 30"/>
          <p:cNvSpPr/>
          <p:nvPr/>
        </p:nvSpPr>
        <p:spPr>
          <a:xfrm>
            <a:off x="640080" y="4041648"/>
            <a:ext cx="10881360" cy="530352"/>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4169663"/>
            <a:ext cx="4937760" cy="228845"/>
          </a:xfrm>
          <a:prstGeom prst="rect">
            <a:avLst/>
          </a:prstGeom>
          <a:noFill/>
        </p:spPr>
        <p:txBody>
          <a:bodyPr wrap="square" lIns="36576" tIns="18288" rIns="36576" bIns="18288" anchor="t">
            <a:spAutoFit/>
          </a:bodyPr>
          <a:lstStyle/>
          <a:p>
            <a:pPr algn="l">
              <a:lnSpc>
                <a:spcPct val="110000"/>
              </a:lnSpc>
            </a:pPr>
            <a:r>
              <a:rPr sz="1200" b="0">
                <a:solidFill>
                  <a:srgbClr val="22283B"/>
                </a:solidFill>
                <a:latin typeface="Consolas"/>
              </a:rPr>
              <a:t>/admin/marketplace/caregivers/ranking</a:t>
            </a:r>
          </a:p>
        </p:txBody>
      </p:sp>
      <p:sp>
        <p:nvSpPr>
          <p:cNvPr id="33" name="TextBox 32"/>
          <p:cNvSpPr txBox="1"/>
          <p:nvPr/>
        </p:nvSpPr>
        <p:spPr>
          <a:xfrm>
            <a:off x="5760720" y="4169663"/>
            <a:ext cx="914400" cy="224357"/>
          </a:xfrm>
          <a:prstGeom prst="rect">
            <a:avLst/>
          </a:prstGeom>
          <a:noFill/>
        </p:spPr>
        <p:txBody>
          <a:bodyPr wrap="square" lIns="36576" tIns="18288" rIns="36576" bIns="18288" anchor="t">
            <a:spAutoFit/>
          </a:bodyPr>
          <a:lstStyle/>
          <a:p>
            <a:pPr algn="l">
              <a:lnSpc>
                <a:spcPct val="110000"/>
              </a:lnSpc>
            </a:pPr>
            <a:r>
              <a:rPr sz="1200" b="1">
                <a:solidFill>
                  <a:srgbClr val="1E2761"/>
                </a:solidFill>
                <a:latin typeface="Arial"/>
              </a:rPr>
              <a:t>GET</a:t>
            </a:r>
          </a:p>
        </p:txBody>
      </p:sp>
      <p:sp>
        <p:nvSpPr>
          <p:cNvPr id="34" name="TextBox 33"/>
          <p:cNvSpPr txBox="1"/>
          <p:nvPr/>
        </p:nvSpPr>
        <p:spPr>
          <a:xfrm>
            <a:off x="6766560" y="4133087"/>
            <a:ext cx="3474720" cy="221599"/>
          </a:xfrm>
          <a:prstGeom prst="rect">
            <a:avLst/>
          </a:prstGeom>
          <a:noFill/>
        </p:spPr>
        <p:txBody>
          <a:bodyPr wrap="square" lIns="36576" tIns="18288" rIns="36576" bIns="18288" anchor="t">
            <a:spAutoFit/>
          </a:bodyPr>
          <a:lstStyle/>
          <a:p>
            <a:pPr algn="l">
              <a:lnSpc>
                <a:spcPct val="100000"/>
              </a:lnSpc>
            </a:pPr>
            <a:r>
              <a:rPr sz="1200" b="0">
                <a:solidFill>
                  <a:srgbClr val="22283B"/>
                </a:solidFill>
                <a:latin typeface="Arial"/>
              </a:rPr>
              <a:t>Ranking de cuidadoras ordenado por puntaje.</a:t>
            </a:r>
          </a:p>
        </p:txBody>
      </p:sp>
      <p:sp>
        <p:nvSpPr>
          <p:cNvPr id="35" name="Rounded Rectangle 34"/>
          <p:cNvSpPr/>
          <p:nvPr/>
        </p:nvSpPr>
        <p:spPr>
          <a:xfrm>
            <a:off x="10241280" y="4169663"/>
            <a:ext cx="1188720" cy="256032"/>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00" b="1">
                <a:solidFill>
                  <a:srgbClr val="FFFFFF"/>
                </a:solidFill>
                <a:latin typeface="Arial"/>
              </a:rPr>
              <a:t>HECHO</a:t>
            </a:r>
          </a:p>
        </p:txBody>
      </p:sp>
      <p:sp>
        <p:nvSpPr>
          <p:cNvPr id="36" name="Rectangle 35"/>
          <p:cNvSpPr/>
          <p:nvPr/>
        </p:nvSpPr>
        <p:spPr>
          <a:xfrm>
            <a:off x="640080" y="4572000"/>
            <a:ext cx="1088136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7240" y="4700016"/>
            <a:ext cx="4937760" cy="228845"/>
          </a:xfrm>
          <a:prstGeom prst="rect">
            <a:avLst/>
          </a:prstGeom>
          <a:noFill/>
        </p:spPr>
        <p:txBody>
          <a:bodyPr wrap="square" lIns="36576" tIns="18288" rIns="36576" bIns="18288" anchor="t">
            <a:spAutoFit/>
          </a:bodyPr>
          <a:lstStyle/>
          <a:p>
            <a:pPr algn="l">
              <a:lnSpc>
                <a:spcPct val="110000"/>
              </a:lnSpc>
            </a:pPr>
            <a:r>
              <a:rPr sz="1200" b="0">
                <a:solidFill>
                  <a:srgbClr val="22283B"/>
                </a:solidFill>
                <a:latin typeface="Consolas"/>
              </a:rPr>
              <a:t>/admin/marketing/dashboard/summary</a:t>
            </a:r>
          </a:p>
        </p:txBody>
      </p:sp>
      <p:sp>
        <p:nvSpPr>
          <p:cNvPr id="38" name="TextBox 37"/>
          <p:cNvSpPr txBox="1"/>
          <p:nvPr/>
        </p:nvSpPr>
        <p:spPr>
          <a:xfrm>
            <a:off x="5760720" y="4700016"/>
            <a:ext cx="914400" cy="224357"/>
          </a:xfrm>
          <a:prstGeom prst="rect">
            <a:avLst/>
          </a:prstGeom>
          <a:noFill/>
        </p:spPr>
        <p:txBody>
          <a:bodyPr wrap="square" lIns="36576" tIns="18288" rIns="36576" bIns="18288" anchor="t">
            <a:spAutoFit/>
          </a:bodyPr>
          <a:lstStyle/>
          <a:p>
            <a:pPr algn="l">
              <a:lnSpc>
                <a:spcPct val="110000"/>
              </a:lnSpc>
            </a:pPr>
            <a:r>
              <a:rPr sz="1200" b="1">
                <a:solidFill>
                  <a:srgbClr val="1E2761"/>
                </a:solidFill>
                <a:latin typeface="Arial"/>
              </a:rPr>
              <a:t>GET</a:t>
            </a:r>
          </a:p>
        </p:txBody>
      </p:sp>
      <p:sp>
        <p:nvSpPr>
          <p:cNvPr id="39" name="TextBox 38"/>
          <p:cNvSpPr txBox="1"/>
          <p:nvPr/>
        </p:nvSpPr>
        <p:spPr>
          <a:xfrm>
            <a:off x="6766560" y="4663440"/>
            <a:ext cx="3474720" cy="411480"/>
          </a:xfrm>
          <a:prstGeom prst="rect">
            <a:avLst/>
          </a:prstGeom>
          <a:noFill/>
        </p:spPr>
        <p:txBody>
          <a:bodyPr wrap="square" lIns="36576" tIns="18288" rIns="36576" bIns="18288" anchor="t">
            <a:spAutoFit/>
          </a:bodyPr>
          <a:lstStyle/>
          <a:p>
            <a:pPr algn="l">
              <a:lnSpc>
                <a:spcPct val="100000"/>
              </a:lnSpc>
            </a:pPr>
            <a:r>
              <a:rPr sz="1200" b="0">
                <a:solidFill>
                  <a:srgbClr val="22283B"/>
                </a:solidFill>
                <a:latin typeface="Arial"/>
              </a:rPr>
              <a:t>Indicadores: cuidadoras activas, puntaje promedio, top 5.</a:t>
            </a:r>
          </a:p>
        </p:txBody>
      </p:sp>
      <p:sp>
        <p:nvSpPr>
          <p:cNvPr id="40" name="Rounded Rectangle 39"/>
          <p:cNvSpPr/>
          <p:nvPr/>
        </p:nvSpPr>
        <p:spPr>
          <a:xfrm>
            <a:off x="10241280" y="4700016"/>
            <a:ext cx="1188720" cy="256032"/>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00" b="1">
                <a:solidFill>
                  <a:srgbClr val="FFFFFF"/>
                </a:solidFill>
                <a:latin typeface="Arial"/>
              </a:rPr>
              <a:t>HECHO</a:t>
            </a:r>
          </a:p>
        </p:txBody>
      </p:sp>
      <p:sp>
        <p:nvSpPr>
          <p:cNvPr id="41" name="Rounded Rectangle 40"/>
          <p:cNvSpPr/>
          <p:nvPr/>
        </p:nvSpPr>
        <p:spPr>
          <a:xfrm>
            <a:off x="640080" y="5349240"/>
            <a:ext cx="10881360" cy="99060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80" y="5384800"/>
            <a:ext cx="10424160" cy="889000"/>
          </a:xfrm>
          <a:prstGeom prst="rect">
            <a:avLst/>
          </a:prstGeom>
          <a:noFill/>
        </p:spPr>
        <p:txBody>
          <a:bodyPr wrap="square" lIns="36576" tIns="18288" rIns="36576" bIns="18288" anchor="ctr">
            <a:spAutoFit/>
          </a:bodyPr>
          <a:lstStyle/>
          <a:p>
            <a:pPr algn="l">
              <a:lnSpc>
                <a:spcPct val="115000"/>
              </a:lnSpc>
            </a:pPr>
            <a:r>
              <a:rPr sz="1250" b="1">
                <a:solidFill>
                  <a:srgbClr val="1E2761"/>
                </a:solidFill>
                <a:latin typeface="Arial"/>
              </a:rPr>
              <a:t>Reglas que aplica el servidor: </a:t>
            </a:r>
            <a:r>
              <a:rPr lang="es-ES" sz="1250" b="0">
                <a:solidFill>
                  <a:srgbClr val="22283B"/>
                </a:solidFill>
                <a:latin typeface="Arial"/>
              </a:rPr>
              <a:t>solo las cuidadoras aprobadas reciben reseñas y puntos</a:t>
            </a:r>
            <a:r>
              <a:rPr sz="1250" b="0">
                <a:solidFill>
                  <a:srgbClr val="22283B"/>
                </a:solidFill>
                <a:latin typeface="Arial"/>
              </a:rPr>
              <a:t> · 10 puntos por trabajo y 5 más si la reseña es de 4 o más estrellas · cada acción queda auditada y respeta los permisos por rol.</a:t>
            </a:r>
            <a:endParaRPr lang="es-ES" sz="1250" b="0">
              <a:solidFill>
                <a:srgbClr val="22283B"/>
              </a:solidFill>
              <a:latin typeface="Arial"/>
            </a:endParaRPr>
          </a:p>
          <a:p>
            <a:pPr algn="l">
              <a:lnSpc>
                <a:spcPct val="115000"/>
              </a:lnSpc>
              <a:spcBef>
                <a:spcPts val="400"/>
              </a:spcBef>
            </a:pPr>
            <a:r>
              <a:rPr lang="es-ES" sz="1250" b="1">
                <a:solidFill>
                  <a:srgbClr val="22283B"/>
                </a:solidFill>
                <a:latin typeface="Arial"/>
              </a:rPr>
              <a:t>Respaldo:</a:t>
            </a:r>
            <a:r>
              <a:rPr lang="es-ES" sz="1250" b="0">
                <a:solidFill>
                  <a:srgbClr val="22283B"/>
                </a:solidFill>
                <a:latin typeface="Arial"/>
              </a:rPr>
              <a:t> 30 pruebas automáticas de la Consola y 20 del sitio, todas aprobadas · documentación interactiva (Swagger) de las dos APIs.</a:t>
            </a:r>
            <a:endParaRPr sz="1250" b="0">
              <a:solidFill>
                <a:srgbClr val="22283B"/>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515600" cy="274320"/>
          </a:xfrm>
          <a:prstGeom prst="rect">
            <a:avLst/>
          </a:prstGeom>
          <a:noFill/>
        </p:spPr>
        <p:txBody>
          <a:bodyPr wrap="square" lIns="36576" tIns="18288" rIns="36576" bIns="18288" anchor="t">
            <a:spAutoFit/>
          </a:bodyPr>
          <a:lstStyle/>
          <a:p>
            <a:pPr algn="l">
              <a:lnSpc>
                <a:spcPct val="110000"/>
              </a:lnSpc>
            </a:pPr>
            <a:r>
              <a:rPr sz="1150" b="1">
                <a:solidFill>
                  <a:srgbClr val="C97F32"/>
                </a:solidFill>
                <a:latin typeface="Arial"/>
              </a:rPr>
              <a:t>CONSOLA DE ADMINISTRACIÓN</a:t>
            </a:r>
          </a:p>
        </p:txBody>
      </p:sp>
      <p:sp>
        <p:nvSpPr>
          <p:cNvPr id="3" name="TextBox 2"/>
          <p:cNvSpPr txBox="1"/>
          <p:nvPr/>
        </p:nvSpPr>
        <p:spPr>
          <a:xfrm>
            <a:off x="640080" y="713232"/>
            <a:ext cx="10881360" cy="640080"/>
          </a:xfrm>
          <a:prstGeom prst="rect">
            <a:avLst/>
          </a:prstGeom>
          <a:noFill/>
        </p:spPr>
        <p:txBody>
          <a:bodyPr wrap="square" lIns="36576" tIns="18288" rIns="36576" bIns="18288" anchor="t">
            <a:spAutoFit/>
          </a:bodyPr>
          <a:lstStyle/>
          <a:p>
            <a:pPr algn="l">
              <a:lnSpc>
                <a:spcPct val="110000"/>
              </a:lnSpc>
            </a:pPr>
            <a:r>
              <a:rPr sz="3000" b="1">
                <a:solidFill>
                  <a:srgbClr val="1E2761"/>
                </a:solidFill>
                <a:latin typeface="Arial"/>
              </a:rPr>
              <a:t>Fidelización, ranking y revisión de documentos</a:t>
            </a:r>
          </a:p>
        </p:txBody>
      </p:sp>
      <p:sp>
        <p:nvSpPr>
          <p:cNvPr id="4" name="TextBox 3"/>
          <p:cNvSpPr txBox="1"/>
          <p:nvPr/>
        </p:nvSpPr>
        <p:spPr>
          <a:xfrm>
            <a:off x="640080" y="6446520"/>
            <a:ext cx="8229600" cy="274320"/>
          </a:xfrm>
          <a:prstGeom prst="rect">
            <a:avLst/>
          </a:prstGeom>
          <a:noFill/>
        </p:spPr>
        <p:txBody>
          <a:bodyPr wrap="square" lIns="36576" tIns="18288" rIns="36576" bIns="18288" anchor="t">
            <a:spAutoFit/>
          </a:bodyPr>
          <a:lstStyle/>
          <a:p>
            <a:pPr algn="l">
              <a:lnSpc>
                <a:spcPct val="110000"/>
              </a:lnSpc>
            </a:pPr>
            <a:r>
              <a:rPr sz="900" b="0">
                <a:solidFill>
                  <a:srgbClr val="9AA5B1"/>
                </a:solidFill>
                <a:latin typeface="Arial"/>
              </a:rPr>
              <a:t>AgeCare · Marketing y Fidelización · Avance Proyecto APT (Fase 2)</a:t>
            </a:r>
          </a:p>
        </p:txBody>
      </p:sp>
      <p:sp>
        <p:nvSpPr>
          <p:cNvPr id="5" name="TextBox 4"/>
          <p:cNvSpPr txBox="1"/>
          <p:nvPr/>
        </p:nvSpPr>
        <p:spPr>
          <a:xfrm>
            <a:off x="10972800" y="6446520"/>
            <a:ext cx="640080" cy="177421"/>
          </a:xfrm>
          <a:prstGeom prst="rect">
            <a:avLst/>
          </a:prstGeom>
          <a:noFill/>
        </p:spPr>
        <p:txBody>
          <a:bodyPr wrap="square" lIns="36576" tIns="18288" rIns="36576" bIns="18288" anchor="t">
            <a:spAutoFit/>
          </a:bodyPr>
          <a:lstStyle/>
          <a:p>
            <a:pPr algn="r">
              <a:lnSpc>
                <a:spcPct val="110000"/>
              </a:lnSpc>
            </a:pPr>
            <a:r>
              <a:rPr lang="es-CL" sz="900" b="0">
                <a:solidFill>
                  <a:srgbClr val="9AA5B1"/>
                </a:solidFill>
                <a:latin typeface="Arial"/>
              </a:rPr>
              <a:t>5</a:t>
            </a:r>
            <a:endParaRPr sz="900" b="0">
              <a:solidFill>
                <a:srgbClr val="9AA5B1"/>
              </a:solidFill>
              <a:latin typeface="Arial"/>
            </a:endParaRPr>
          </a:p>
        </p:txBody>
      </p:sp>
      <p:sp>
        <p:nvSpPr>
          <p:cNvPr id="6" name="Rectangle 5"/>
          <p:cNvSpPr/>
          <p:nvPr/>
        </p:nvSpPr>
        <p:spPr>
          <a:xfrm>
            <a:off x="603503" y="1472184"/>
            <a:ext cx="5422392" cy="3416427"/>
          </a:xfrm>
          <a:prstGeom prst="rect">
            <a:avLst/>
          </a:prstGeom>
          <a:solidFill>
            <a:srgbClr val="E2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24_consola_fidelizacion_ranking_ppt.jpg"/>
          <p:cNvPicPr>
            <a:picLocks noChangeAspect="1"/>
          </p:cNvPicPr>
          <p:nvPr/>
        </p:nvPicPr>
        <p:blipFill>
          <a:blip r:embed="rId3"/>
          <a:stretch>
            <a:fillRect/>
          </a:stretch>
        </p:blipFill>
        <p:spPr>
          <a:xfrm>
            <a:off x="640080" y="1508760"/>
            <a:ext cx="5349240" cy="3343275"/>
          </a:xfrm>
          <a:prstGeom prst="rect">
            <a:avLst/>
          </a:prstGeom>
        </p:spPr>
      </p:pic>
      <p:sp>
        <p:nvSpPr>
          <p:cNvPr id="8" name="TextBox 7"/>
          <p:cNvSpPr txBox="1"/>
          <p:nvPr/>
        </p:nvSpPr>
        <p:spPr>
          <a:xfrm>
            <a:off x="603503" y="4925187"/>
            <a:ext cx="5422392" cy="427489"/>
          </a:xfrm>
          <a:prstGeom prst="rect">
            <a:avLst/>
          </a:prstGeom>
          <a:noFill/>
        </p:spPr>
        <p:txBody>
          <a:bodyPr wrap="square" lIns="36576" tIns="18288" rIns="36576" bIns="18288" anchor="t">
            <a:spAutoFit/>
          </a:bodyPr>
          <a:lstStyle/>
          <a:p>
            <a:pPr algn="ctr">
              <a:lnSpc>
                <a:spcPct val="110000"/>
              </a:lnSpc>
            </a:pPr>
            <a:r>
              <a:rPr sz="1200" b="0">
                <a:solidFill>
                  <a:srgbClr val="6B7280"/>
                </a:solidFill>
                <a:latin typeface="Arial"/>
              </a:rPr>
              <a:t>Fidelización y ranking: indicadores del dashboard, ranking y registro de reseñas.</a:t>
            </a:r>
          </a:p>
        </p:txBody>
      </p:sp>
      <p:sp>
        <p:nvSpPr>
          <p:cNvPr id="9" name="Rectangle 8"/>
          <p:cNvSpPr/>
          <p:nvPr/>
        </p:nvSpPr>
        <p:spPr>
          <a:xfrm>
            <a:off x="6227064" y="1472184"/>
            <a:ext cx="5422392" cy="3416427"/>
          </a:xfrm>
          <a:prstGeom prst="rect">
            <a:avLst/>
          </a:prstGeom>
          <a:solidFill>
            <a:srgbClr val="E2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23_consola_ficha_y_documentos_ppt.jpg"/>
          <p:cNvPicPr>
            <a:picLocks noChangeAspect="1"/>
          </p:cNvPicPr>
          <p:nvPr/>
        </p:nvPicPr>
        <p:blipFill>
          <a:blip r:embed="rId4"/>
          <a:stretch>
            <a:fillRect/>
          </a:stretch>
        </p:blipFill>
        <p:spPr>
          <a:xfrm>
            <a:off x="6263640" y="1508760"/>
            <a:ext cx="5349240" cy="3343275"/>
          </a:xfrm>
          <a:prstGeom prst="rect">
            <a:avLst/>
          </a:prstGeom>
        </p:spPr>
      </p:pic>
      <p:sp>
        <p:nvSpPr>
          <p:cNvPr id="11" name="TextBox 10"/>
          <p:cNvSpPr txBox="1"/>
          <p:nvPr/>
        </p:nvSpPr>
        <p:spPr>
          <a:xfrm>
            <a:off x="6227064" y="4925187"/>
            <a:ext cx="5422392" cy="224357"/>
          </a:xfrm>
          <a:prstGeom prst="rect">
            <a:avLst/>
          </a:prstGeom>
          <a:noFill/>
        </p:spPr>
        <p:txBody>
          <a:bodyPr wrap="square" lIns="36576" tIns="18288" rIns="36576" bIns="18288" anchor="t">
            <a:spAutoFit/>
          </a:bodyPr>
          <a:lstStyle/>
          <a:p>
            <a:pPr algn="ctr">
              <a:lnSpc>
                <a:spcPct val="110000"/>
              </a:lnSpc>
            </a:pPr>
            <a:r>
              <a:rPr sz="1200" b="0">
                <a:solidFill>
                  <a:srgbClr val="6B7280"/>
                </a:solidFill>
                <a:latin typeface="Arial"/>
              </a:rPr>
              <a:t>Ficha de la cuidadora: el equipo aprueba o rechaza cada documento.</a:t>
            </a:r>
          </a:p>
        </p:txBody>
      </p:sp>
      <p:sp>
        <p:nvSpPr>
          <p:cNvPr id="12" name="TextBox 11"/>
          <p:cNvSpPr txBox="1"/>
          <p:nvPr/>
        </p:nvSpPr>
        <p:spPr>
          <a:xfrm>
            <a:off x="640080" y="5486400"/>
            <a:ext cx="10881360" cy="511358"/>
          </a:xfrm>
          <a:prstGeom prst="rect">
            <a:avLst/>
          </a:prstGeom>
          <a:noFill/>
        </p:spPr>
        <p:txBody>
          <a:bodyPr wrap="square" lIns="36576" tIns="18288" rIns="36576" bIns="18288" anchor="t">
            <a:spAutoFit/>
          </a:bodyPr>
          <a:lstStyle/>
          <a:p>
            <a:pPr algn="l">
              <a:lnSpc>
                <a:spcPct val="115000"/>
              </a:lnSpc>
            </a:pPr>
            <a:r>
              <a:rPr sz="1400" b="0">
                <a:solidFill>
                  <a:srgbClr val="22283B"/>
                </a:solidFill>
                <a:latin typeface="Arial"/>
              </a:rPr>
              <a:t>Una cuidadora solo aparece en el marketplace cuando el equipo aprobó su cédula y su certificado de antecedentes. Un perfil suspendido se oculta y puede reactivarse.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515600" cy="274320"/>
          </a:xfrm>
          <a:prstGeom prst="rect">
            <a:avLst/>
          </a:prstGeom>
          <a:noFill/>
        </p:spPr>
        <p:txBody>
          <a:bodyPr wrap="square" lIns="36576" tIns="18288" rIns="36576" bIns="18288" anchor="t">
            <a:spAutoFit/>
          </a:bodyPr>
          <a:lstStyle/>
          <a:p>
            <a:pPr algn="l">
              <a:lnSpc>
                <a:spcPct val="110000"/>
              </a:lnSpc>
            </a:pPr>
            <a:r>
              <a:rPr sz="1150" b="1">
                <a:solidFill>
                  <a:srgbClr val="C97F32"/>
                </a:solidFill>
                <a:latin typeface="Arial"/>
              </a:rPr>
              <a:t>SITIO PÚBLICO · FAMILIAS</a:t>
            </a:r>
          </a:p>
        </p:txBody>
      </p:sp>
      <p:sp>
        <p:nvSpPr>
          <p:cNvPr id="3" name="TextBox 2"/>
          <p:cNvSpPr txBox="1"/>
          <p:nvPr/>
        </p:nvSpPr>
        <p:spPr>
          <a:xfrm>
            <a:off x="640080" y="713232"/>
            <a:ext cx="10881360" cy="640080"/>
          </a:xfrm>
          <a:prstGeom prst="rect">
            <a:avLst/>
          </a:prstGeom>
          <a:noFill/>
        </p:spPr>
        <p:txBody>
          <a:bodyPr wrap="square" lIns="36576" tIns="18288" rIns="36576" bIns="18288" anchor="t">
            <a:spAutoFit/>
          </a:bodyPr>
          <a:lstStyle/>
          <a:p>
            <a:pPr algn="l">
              <a:lnSpc>
                <a:spcPct val="110000"/>
              </a:lnSpc>
            </a:pPr>
            <a:r>
              <a:rPr sz="3000" b="1">
                <a:solidFill>
                  <a:srgbClr val="1E2761"/>
                </a:solidFill>
                <a:latin typeface="Arial"/>
              </a:rPr>
              <a:t>Buscar, contactar y contratar con confianza</a:t>
            </a:r>
          </a:p>
        </p:txBody>
      </p:sp>
      <p:sp>
        <p:nvSpPr>
          <p:cNvPr id="4" name="TextBox 3"/>
          <p:cNvSpPr txBox="1"/>
          <p:nvPr/>
        </p:nvSpPr>
        <p:spPr>
          <a:xfrm>
            <a:off x="640080" y="6446520"/>
            <a:ext cx="8229600" cy="274320"/>
          </a:xfrm>
          <a:prstGeom prst="rect">
            <a:avLst/>
          </a:prstGeom>
          <a:noFill/>
        </p:spPr>
        <p:txBody>
          <a:bodyPr wrap="square" lIns="36576" tIns="18288" rIns="36576" bIns="18288" anchor="t">
            <a:spAutoFit/>
          </a:bodyPr>
          <a:lstStyle/>
          <a:p>
            <a:pPr algn="l">
              <a:lnSpc>
                <a:spcPct val="110000"/>
              </a:lnSpc>
            </a:pPr>
            <a:r>
              <a:rPr sz="900" b="0">
                <a:solidFill>
                  <a:srgbClr val="9AA5B1"/>
                </a:solidFill>
                <a:latin typeface="Arial"/>
              </a:rPr>
              <a:t>AgeCare · Marketing y Fidelización · Avance Proyecto APT (Fase 2)</a:t>
            </a:r>
          </a:p>
        </p:txBody>
      </p:sp>
      <p:sp>
        <p:nvSpPr>
          <p:cNvPr id="5" name="TextBox 4"/>
          <p:cNvSpPr txBox="1"/>
          <p:nvPr/>
        </p:nvSpPr>
        <p:spPr>
          <a:xfrm>
            <a:off x="10972800" y="6446520"/>
            <a:ext cx="640080" cy="177421"/>
          </a:xfrm>
          <a:prstGeom prst="rect">
            <a:avLst/>
          </a:prstGeom>
          <a:noFill/>
        </p:spPr>
        <p:txBody>
          <a:bodyPr wrap="square" lIns="36576" tIns="18288" rIns="36576" bIns="18288" anchor="t">
            <a:spAutoFit/>
          </a:bodyPr>
          <a:lstStyle/>
          <a:p>
            <a:pPr algn="r">
              <a:lnSpc>
                <a:spcPct val="110000"/>
              </a:lnSpc>
            </a:pPr>
            <a:r>
              <a:rPr lang="es-CL" sz="900" b="0">
                <a:solidFill>
                  <a:srgbClr val="9AA5B1"/>
                </a:solidFill>
                <a:latin typeface="Arial"/>
              </a:rPr>
              <a:t>6</a:t>
            </a:r>
            <a:endParaRPr sz="900" b="0">
              <a:solidFill>
                <a:srgbClr val="9AA5B1"/>
              </a:solidFill>
              <a:latin typeface="Arial"/>
            </a:endParaRPr>
          </a:p>
        </p:txBody>
      </p:sp>
      <p:sp>
        <p:nvSpPr>
          <p:cNvPr id="6" name="Rectangle 5"/>
          <p:cNvSpPr/>
          <p:nvPr/>
        </p:nvSpPr>
        <p:spPr>
          <a:xfrm>
            <a:off x="603503" y="1472184"/>
            <a:ext cx="5422392" cy="3416427"/>
          </a:xfrm>
          <a:prstGeom prst="rect">
            <a:avLst/>
          </a:prstGeom>
          <a:solidFill>
            <a:srgbClr val="E2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10_familia_buscar_cuidadoras_ppt.jpg"/>
          <p:cNvPicPr>
            <a:picLocks noChangeAspect="1"/>
          </p:cNvPicPr>
          <p:nvPr/>
        </p:nvPicPr>
        <p:blipFill>
          <a:blip r:embed="rId3"/>
          <a:stretch>
            <a:fillRect/>
          </a:stretch>
        </p:blipFill>
        <p:spPr>
          <a:xfrm>
            <a:off x="640080" y="1508760"/>
            <a:ext cx="5349240" cy="3343275"/>
          </a:xfrm>
          <a:prstGeom prst="rect">
            <a:avLst/>
          </a:prstGeom>
        </p:spPr>
      </p:pic>
      <p:sp>
        <p:nvSpPr>
          <p:cNvPr id="8" name="TextBox 7"/>
          <p:cNvSpPr txBox="1"/>
          <p:nvPr/>
        </p:nvSpPr>
        <p:spPr>
          <a:xfrm>
            <a:off x="603503" y="4925187"/>
            <a:ext cx="5422392" cy="427489"/>
          </a:xfrm>
          <a:prstGeom prst="rect">
            <a:avLst/>
          </a:prstGeom>
          <a:noFill/>
        </p:spPr>
        <p:txBody>
          <a:bodyPr wrap="square" lIns="36576" tIns="18288" rIns="36576" bIns="18288" anchor="t">
            <a:spAutoFit/>
          </a:bodyPr>
          <a:lstStyle/>
          <a:p>
            <a:pPr algn="ctr">
              <a:lnSpc>
                <a:spcPct val="110000"/>
              </a:lnSpc>
            </a:pPr>
            <a:r>
              <a:rPr sz="1200" b="0">
                <a:solidFill>
                  <a:srgbClr val="6B7280"/>
                </a:solidFill>
                <a:latin typeface="Arial"/>
              </a:rPr>
              <a:t>Búsqueda de cuidadoras: la marca «Trabajando» indica quién ya tiene un trabajo.</a:t>
            </a:r>
          </a:p>
        </p:txBody>
      </p:sp>
      <p:sp>
        <p:nvSpPr>
          <p:cNvPr id="9" name="Rectangle 8"/>
          <p:cNvSpPr/>
          <p:nvPr/>
        </p:nvSpPr>
        <p:spPr>
          <a:xfrm>
            <a:off x="6227064" y="1472184"/>
            <a:ext cx="5422392" cy="3416427"/>
          </a:xfrm>
          <a:prstGeom prst="rect">
            <a:avLst/>
          </a:prstGeom>
          <a:solidFill>
            <a:srgbClr val="E2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12_familia_chat_ppt.jpg"/>
          <p:cNvPicPr>
            <a:picLocks noChangeAspect="1"/>
          </p:cNvPicPr>
          <p:nvPr/>
        </p:nvPicPr>
        <p:blipFill>
          <a:blip r:embed="rId4"/>
          <a:stretch>
            <a:fillRect/>
          </a:stretch>
        </p:blipFill>
        <p:spPr>
          <a:xfrm>
            <a:off x="6263640" y="1508760"/>
            <a:ext cx="5349240" cy="3343275"/>
          </a:xfrm>
          <a:prstGeom prst="rect">
            <a:avLst/>
          </a:prstGeom>
        </p:spPr>
      </p:pic>
      <p:sp>
        <p:nvSpPr>
          <p:cNvPr id="11" name="TextBox 10"/>
          <p:cNvSpPr txBox="1"/>
          <p:nvPr/>
        </p:nvSpPr>
        <p:spPr>
          <a:xfrm>
            <a:off x="6227064" y="4925187"/>
            <a:ext cx="5422392" cy="224357"/>
          </a:xfrm>
          <a:prstGeom prst="rect">
            <a:avLst/>
          </a:prstGeom>
          <a:noFill/>
        </p:spPr>
        <p:txBody>
          <a:bodyPr wrap="square" lIns="36576" tIns="18288" rIns="36576" bIns="18288" anchor="t">
            <a:spAutoFit/>
          </a:bodyPr>
          <a:lstStyle/>
          <a:p>
            <a:pPr algn="ctr">
              <a:lnSpc>
                <a:spcPct val="110000"/>
              </a:lnSpc>
            </a:pPr>
            <a:r>
              <a:rPr sz="1200" b="0">
                <a:solidFill>
                  <a:srgbClr val="6B7280"/>
                </a:solidFill>
                <a:latin typeface="Arial"/>
              </a:rPr>
              <a:t>Chat entre familia y cuidadora (los mensajes se eliminan a los 7 días).</a:t>
            </a:r>
          </a:p>
        </p:txBody>
      </p:sp>
      <p:sp>
        <p:nvSpPr>
          <p:cNvPr id="12" name="TextBox 11"/>
          <p:cNvSpPr txBox="1"/>
          <p:nvPr/>
        </p:nvSpPr>
        <p:spPr>
          <a:xfrm>
            <a:off x="640080" y="5486400"/>
            <a:ext cx="10881360" cy="511358"/>
          </a:xfrm>
          <a:prstGeom prst="rect">
            <a:avLst/>
          </a:prstGeom>
          <a:noFill/>
        </p:spPr>
        <p:txBody>
          <a:bodyPr wrap="square" lIns="36576" tIns="18288" rIns="36576" bIns="18288" anchor="t">
            <a:spAutoFit/>
          </a:bodyPr>
          <a:lstStyle/>
          <a:p>
            <a:pPr algn="l">
              <a:lnSpc>
                <a:spcPct val="115000"/>
              </a:lnSpc>
            </a:pPr>
            <a:r>
              <a:rPr sz="1400" b="0">
                <a:solidFill>
                  <a:srgbClr val="22283B"/>
                </a:solidFill>
                <a:latin typeface="Arial"/>
              </a:rPr>
              <a:t>La familia envía una solicitud de contratación y el trabajo comienza cuando la cuidadora la acepta. Una cuidadora solo puede tener un trabajo activo a la vez, y la reseña se deja al terminarlo.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515600" cy="274320"/>
          </a:xfrm>
          <a:prstGeom prst="rect">
            <a:avLst/>
          </a:prstGeom>
          <a:noFill/>
        </p:spPr>
        <p:txBody>
          <a:bodyPr wrap="square" lIns="36576" tIns="18288" rIns="36576" bIns="18288" anchor="t">
            <a:spAutoFit/>
          </a:bodyPr>
          <a:lstStyle/>
          <a:p>
            <a:pPr algn="l">
              <a:lnSpc>
                <a:spcPct val="110000"/>
              </a:lnSpc>
            </a:pPr>
            <a:r>
              <a:rPr sz="1150" b="1">
                <a:solidFill>
                  <a:srgbClr val="C97F32"/>
                </a:solidFill>
                <a:latin typeface="Arial"/>
              </a:rPr>
              <a:t>SITIO PÚBLICO · CUIDADORAS</a:t>
            </a:r>
          </a:p>
        </p:txBody>
      </p:sp>
      <p:sp>
        <p:nvSpPr>
          <p:cNvPr id="3" name="TextBox 2"/>
          <p:cNvSpPr txBox="1"/>
          <p:nvPr/>
        </p:nvSpPr>
        <p:spPr>
          <a:xfrm>
            <a:off x="640080" y="713232"/>
            <a:ext cx="10881360" cy="640080"/>
          </a:xfrm>
          <a:prstGeom prst="rect">
            <a:avLst/>
          </a:prstGeom>
          <a:noFill/>
        </p:spPr>
        <p:txBody>
          <a:bodyPr wrap="square" lIns="36576" tIns="18288" rIns="36576" bIns="18288" anchor="t">
            <a:spAutoFit/>
          </a:bodyPr>
          <a:lstStyle/>
          <a:p>
            <a:pPr algn="l">
              <a:lnSpc>
                <a:spcPct val="110000"/>
              </a:lnSpc>
            </a:pPr>
            <a:r>
              <a:rPr sz="3000" b="1">
                <a:solidFill>
                  <a:srgbClr val="1E2761"/>
                </a:solidFill>
                <a:latin typeface="Arial"/>
              </a:rPr>
              <a:t>Perfil profesional, solicitudes y reseñas</a:t>
            </a:r>
          </a:p>
        </p:txBody>
      </p:sp>
      <p:sp>
        <p:nvSpPr>
          <p:cNvPr id="4" name="TextBox 3"/>
          <p:cNvSpPr txBox="1"/>
          <p:nvPr/>
        </p:nvSpPr>
        <p:spPr>
          <a:xfrm>
            <a:off x="640080" y="6446520"/>
            <a:ext cx="8229600" cy="274320"/>
          </a:xfrm>
          <a:prstGeom prst="rect">
            <a:avLst/>
          </a:prstGeom>
          <a:noFill/>
        </p:spPr>
        <p:txBody>
          <a:bodyPr wrap="square" lIns="36576" tIns="18288" rIns="36576" bIns="18288" anchor="t">
            <a:spAutoFit/>
          </a:bodyPr>
          <a:lstStyle/>
          <a:p>
            <a:pPr algn="l">
              <a:lnSpc>
                <a:spcPct val="110000"/>
              </a:lnSpc>
            </a:pPr>
            <a:r>
              <a:rPr sz="900" b="0">
                <a:solidFill>
                  <a:srgbClr val="9AA5B1"/>
                </a:solidFill>
                <a:latin typeface="Arial"/>
              </a:rPr>
              <a:t>AgeCare · Marketing y Fidelización · Avance Proyecto APT (Fase 2)</a:t>
            </a:r>
          </a:p>
        </p:txBody>
      </p:sp>
      <p:sp>
        <p:nvSpPr>
          <p:cNvPr id="5" name="TextBox 4"/>
          <p:cNvSpPr txBox="1"/>
          <p:nvPr/>
        </p:nvSpPr>
        <p:spPr>
          <a:xfrm>
            <a:off x="10972800" y="6446520"/>
            <a:ext cx="640080" cy="177421"/>
          </a:xfrm>
          <a:prstGeom prst="rect">
            <a:avLst/>
          </a:prstGeom>
          <a:noFill/>
        </p:spPr>
        <p:txBody>
          <a:bodyPr wrap="square" lIns="36576" tIns="18288" rIns="36576" bIns="18288" anchor="t">
            <a:spAutoFit/>
          </a:bodyPr>
          <a:lstStyle/>
          <a:p>
            <a:pPr algn="r">
              <a:lnSpc>
                <a:spcPct val="110000"/>
              </a:lnSpc>
            </a:pPr>
            <a:r>
              <a:rPr lang="es-CL" sz="900" b="0">
                <a:solidFill>
                  <a:srgbClr val="9AA5B1"/>
                </a:solidFill>
                <a:latin typeface="Arial"/>
              </a:rPr>
              <a:t>7</a:t>
            </a:r>
            <a:endParaRPr sz="900" b="0">
              <a:solidFill>
                <a:srgbClr val="9AA5B1"/>
              </a:solidFill>
              <a:latin typeface="Arial"/>
            </a:endParaRPr>
          </a:p>
        </p:txBody>
      </p:sp>
      <p:sp>
        <p:nvSpPr>
          <p:cNvPr id="6" name="Rectangle 5"/>
          <p:cNvSpPr/>
          <p:nvPr/>
        </p:nvSpPr>
        <p:spPr>
          <a:xfrm>
            <a:off x="603503" y="1472184"/>
            <a:ext cx="5422392" cy="3416427"/>
          </a:xfrm>
          <a:prstGeom prst="rect">
            <a:avLst/>
          </a:prstGeom>
          <a:solidFill>
            <a:srgbClr val="E2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05_cuidadora_perfil_profesional_ppt.jpg"/>
          <p:cNvPicPr>
            <a:picLocks noChangeAspect="1"/>
          </p:cNvPicPr>
          <p:nvPr/>
        </p:nvPicPr>
        <p:blipFill>
          <a:blip r:embed="rId3"/>
          <a:stretch>
            <a:fillRect/>
          </a:stretch>
        </p:blipFill>
        <p:spPr>
          <a:xfrm>
            <a:off x="640080" y="1508760"/>
            <a:ext cx="5349240" cy="3343275"/>
          </a:xfrm>
          <a:prstGeom prst="rect">
            <a:avLst/>
          </a:prstGeom>
        </p:spPr>
      </p:pic>
      <p:sp>
        <p:nvSpPr>
          <p:cNvPr id="8" name="TextBox 7"/>
          <p:cNvSpPr txBox="1"/>
          <p:nvPr/>
        </p:nvSpPr>
        <p:spPr>
          <a:xfrm>
            <a:off x="603503" y="4925187"/>
            <a:ext cx="5422392" cy="224357"/>
          </a:xfrm>
          <a:prstGeom prst="rect">
            <a:avLst/>
          </a:prstGeom>
          <a:noFill/>
        </p:spPr>
        <p:txBody>
          <a:bodyPr wrap="square" lIns="36576" tIns="18288" rIns="36576" bIns="18288" anchor="t">
            <a:spAutoFit/>
          </a:bodyPr>
          <a:lstStyle/>
          <a:p>
            <a:pPr algn="ctr">
              <a:lnSpc>
                <a:spcPct val="110000"/>
              </a:lnSpc>
            </a:pPr>
            <a:r>
              <a:rPr sz="1200" b="0">
                <a:solidFill>
                  <a:srgbClr val="6B7280"/>
                </a:solidFill>
                <a:latin typeface="Arial"/>
              </a:rPr>
              <a:t>Perfil profesional de la cuidadora, con su valoración y sus documentos.</a:t>
            </a:r>
          </a:p>
        </p:txBody>
      </p:sp>
      <p:sp>
        <p:nvSpPr>
          <p:cNvPr id="9" name="Rectangle 8"/>
          <p:cNvSpPr/>
          <p:nvPr/>
        </p:nvSpPr>
        <p:spPr>
          <a:xfrm>
            <a:off x="6227064" y="1472184"/>
            <a:ext cx="5422392" cy="3416427"/>
          </a:xfrm>
          <a:prstGeom prst="rect">
            <a:avLst/>
          </a:prstGeom>
          <a:solidFill>
            <a:srgbClr val="E2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09_cuidadora_solicitudes_ppt.jpg"/>
          <p:cNvPicPr>
            <a:picLocks noChangeAspect="1"/>
          </p:cNvPicPr>
          <p:nvPr/>
        </p:nvPicPr>
        <p:blipFill>
          <a:blip r:embed="rId4"/>
          <a:stretch>
            <a:fillRect/>
          </a:stretch>
        </p:blipFill>
        <p:spPr>
          <a:xfrm>
            <a:off x="6263640" y="1508760"/>
            <a:ext cx="5349240" cy="3343275"/>
          </a:xfrm>
          <a:prstGeom prst="rect">
            <a:avLst/>
          </a:prstGeom>
        </p:spPr>
      </p:pic>
      <p:sp>
        <p:nvSpPr>
          <p:cNvPr id="11" name="TextBox 10"/>
          <p:cNvSpPr txBox="1"/>
          <p:nvPr/>
        </p:nvSpPr>
        <p:spPr>
          <a:xfrm>
            <a:off x="6227064" y="4925187"/>
            <a:ext cx="5422392" cy="224357"/>
          </a:xfrm>
          <a:prstGeom prst="rect">
            <a:avLst/>
          </a:prstGeom>
          <a:noFill/>
        </p:spPr>
        <p:txBody>
          <a:bodyPr wrap="square" lIns="36576" tIns="18288" rIns="36576" bIns="18288" anchor="t">
            <a:spAutoFit/>
          </a:bodyPr>
          <a:lstStyle/>
          <a:p>
            <a:pPr algn="ctr">
              <a:lnSpc>
                <a:spcPct val="110000"/>
              </a:lnSpc>
            </a:pPr>
            <a:r>
              <a:rPr sz="1200" b="0">
                <a:solidFill>
                  <a:srgbClr val="6B7280"/>
                </a:solidFill>
                <a:latin typeface="Arial"/>
              </a:rPr>
              <a:t>Solicitudes de contratación: puede aceptar, rechazar o chatear.</a:t>
            </a:r>
          </a:p>
        </p:txBody>
      </p:sp>
      <p:sp>
        <p:nvSpPr>
          <p:cNvPr id="12" name="TextBox 11"/>
          <p:cNvSpPr txBox="1"/>
          <p:nvPr/>
        </p:nvSpPr>
        <p:spPr>
          <a:xfrm>
            <a:off x="640080" y="5486400"/>
            <a:ext cx="10881360" cy="263598"/>
          </a:xfrm>
          <a:prstGeom prst="rect">
            <a:avLst/>
          </a:prstGeom>
          <a:noFill/>
        </p:spPr>
        <p:txBody>
          <a:bodyPr wrap="square" lIns="36576" tIns="18288" rIns="36576" bIns="18288" anchor="t">
            <a:spAutoFit/>
          </a:bodyPr>
          <a:lstStyle/>
          <a:p>
            <a:pPr algn="l">
              <a:lnSpc>
                <a:spcPct val="115000"/>
              </a:lnSpc>
            </a:pPr>
            <a:r>
              <a:rPr sz="1400" b="0">
                <a:solidFill>
                  <a:srgbClr val="22283B"/>
                </a:solidFill>
                <a:latin typeface="Arial"/>
              </a:rPr>
              <a:t>Desde su perfil la cuidadora sube sus documentos, ve su estado de revisión y, ahora, también las reseñas que le han dejado las familias.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515600" cy="274320"/>
          </a:xfrm>
          <a:prstGeom prst="rect">
            <a:avLst/>
          </a:prstGeom>
          <a:noFill/>
        </p:spPr>
        <p:txBody>
          <a:bodyPr wrap="square" lIns="36576" tIns="18288" rIns="36576" bIns="18288" anchor="t">
            <a:spAutoFit/>
          </a:bodyPr>
          <a:lstStyle/>
          <a:p>
            <a:pPr algn="l">
              <a:lnSpc>
                <a:spcPct val="110000"/>
              </a:lnSpc>
            </a:pPr>
            <a:r>
              <a:rPr sz="1150" b="1">
                <a:solidFill>
                  <a:srgbClr val="C97F32"/>
                </a:solidFill>
                <a:latin typeface="Arial"/>
              </a:rPr>
              <a:t>ARQUITECTURA Y DESPLIEGUE</a:t>
            </a:r>
          </a:p>
        </p:txBody>
      </p:sp>
      <p:sp>
        <p:nvSpPr>
          <p:cNvPr id="3" name="TextBox 2"/>
          <p:cNvSpPr txBox="1"/>
          <p:nvPr/>
        </p:nvSpPr>
        <p:spPr>
          <a:xfrm>
            <a:off x="640080" y="713232"/>
            <a:ext cx="10881360" cy="640080"/>
          </a:xfrm>
          <a:prstGeom prst="rect">
            <a:avLst/>
          </a:prstGeom>
          <a:noFill/>
        </p:spPr>
        <p:txBody>
          <a:bodyPr wrap="square" lIns="36576" tIns="18288" rIns="36576" bIns="18288" anchor="t">
            <a:spAutoFit/>
          </a:bodyPr>
          <a:lstStyle/>
          <a:p>
            <a:pPr algn="l">
              <a:lnSpc>
                <a:spcPct val="110000"/>
              </a:lnSpc>
            </a:pPr>
            <a:r>
              <a:rPr sz="3000" b="1">
                <a:solidFill>
                  <a:srgbClr val="1E2761"/>
                </a:solidFill>
                <a:latin typeface="Arial"/>
              </a:rPr>
              <a:t>Dos aplicaciones conectadas, publicadas desde GitHub</a:t>
            </a:r>
          </a:p>
        </p:txBody>
      </p:sp>
      <p:sp>
        <p:nvSpPr>
          <p:cNvPr id="4" name="TextBox 3"/>
          <p:cNvSpPr txBox="1"/>
          <p:nvPr/>
        </p:nvSpPr>
        <p:spPr>
          <a:xfrm>
            <a:off x="640080" y="6446520"/>
            <a:ext cx="8229600" cy="274320"/>
          </a:xfrm>
          <a:prstGeom prst="rect">
            <a:avLst/>
          </a:prstGeom>
          <a:noFill/>
        </p:spPr>
        <p:txBody>
          <a:bodyPr wrap="square" lIns="36576" tIns="18288" rIns="36576" bIns="18288" anchor="t">
            <a:spAutoFit/>
          </a:bodyPr>
          <a:lstStyle/>
          <a:p>
            <a:pPr algn="l">
              <a:lnSpc>
                <a:spcPct val="110000"/>
              </a:lnSpc>
            </a:pPr>
            <a:r>
              <a:rPr sz="900" b="0">
                <a:solidFill>
                  <a:srgbClr val="9AA5B1"/>
                </a:solidFill>
                <a:latin typeface="Arial"/>
              </a:rPr>
              <a:t>AgeCare · Marketing y Fidelización · Avance Proyecto APT (Fase 2)</a:t>
            </a:r>
          </a:p>
        </p:txBody>
      </p:sp>
      <p:sp>
        <p:nvSpPr>
          <p:cNvPr id="5" name="TextBox 4"/>
          <p:cNvSpPr txBox="1"/>
          <p:nvPr/>
        </p:nvSpPr>
        <p:spPr>
          <a:xfrm>
            <a:off x="10972800" y="6446520"/>
            <a:ext cx="640080" cy="177421"/>
          </a:xfrm>
          <a:prstGeom prst="rect">
            <a:avLst/>
          </a:prstGeom>
          <a:noFill/>
        </p:spPr>
        <p:txBody>
          <a:bodyPr wrap="square" lIns="36576" tIns="18288" rIns="36576" bIns="18288" anchor="t">
            <a:spAutoFit/>
          </a:bodyPr>
          <a:lstStyle/>
          <a:p>
            <a:pPr algn="r">
              <a:lnSpc>
                <a:spcPct val="110000"/>
              </a:lnSpc>
            </a:pPr>
            <a:r>
              <a:rPr lang="es-CL" sz="900" b="0">
                <a:solidFill>
                  <a:srgbClr val="9AA5B1"/>
                </a:solidFill>
                <a:latin typeface="Arial"/>
              </a:rPr>
              <a:t>8</a:t>
            </a:r>
            <a:endParaRPr sz="900" b="0">
              <a:solidFill>
                <a:srgbClr val="9AA5B1"/>
              </a:solidFill>
              <a:latin typeface="Arial"/>
            </a:endParaRPr>
          </a:p>
        </p:txBody>
      </p:sp>
      <p:sp>
        <p:nvSpPr>
          <p:cNvPr id="6" name="Rounded Rectangle 5"/>
          <p:cNvSpPr/>
          <p:nvPr/>
        </p:nvSpPr>
        <p:spPr>
          <a:xfrm>
            <a:off x="640080" y="1554480"/>
            <a:ext cx="2377440" cy="10515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19" y="1645920"/>
            <a:ext cx="2194560" cy="365760"/>
          </a:xfrm>
          <a:prstGeom prst="rect">
            <a:avLst/>
          </a:prstGeom>
          <a:noFill/>
        </p:spPr>
        <p:txBody>
          <a:bodyPr wrap="square" lIns="36576" tIns="18288" rIns="36576" bIns="18288" anchor="t">
            <a:spAutoFit/>
          </a:bodyPr>
          <a:lstStyle/>
          <a:p>
            <a:pPr algn="ctr">
              <a:lnSpc>
                <a:spcPct val="110000"/>
              </a:lnSpc>
            </a:pPr>
            <a:r>
              <a:rPr sz="1350" b="1">
                <a:solidFill>
                  <a:srgbClr val="1E2761"/>
                </a:solidFill>
                <a:latin typeface="Arial"/>
              </a:rPr>
              <a:t>Familias y cuidadoras</a:t>
            </a:r>
          </a:p>
        </p:txBody>
      </p:sp>
      <p:sp>
        <p:nvSpPr>
          <p:cNvPr id="8" name="TextBox 7"/>
          <p:cNvSpPr txBox="1"/>
          <p:nvPr/>
        </p:nvSpPr>
        <p:spPr>
          <a:xfrm>
            <a:off x="731519" y="2011680"/>
            <a:ext cx="2194560" cy="548639"/>
          </a:xfrm>
          <a:prstGeom prst="rect">
            <a:avLst/>
          </a:prstGeom>
          <a:noFill/>
        </p:spPr>
        <p:txBody>
          <a:bodyPr wrap="square" lIns="36576" tIns="18288" rIns="36576" bIns="18288" anchor="t">
            <a:spAutoFit/>
          </a:bodyPr>
          <a:lstStyle/>
          <a:p>
            <a:pPr algn="ctr">
              <a:lnSpc>
                <a:spcPct val="105000"/>
              </a:lnSpc>
            </a:pPr>
            <a:r>
              <a:rPr sz="1050" b="0">
                <a:solidFill>
                  <a:srgbClr val="6B7280"/>
                </a:solidFill>
                <a:latin typeface="Arial"/>
              </a:rPr>
              <a:t>usan el sitio público</a:t>
            </a:r>
          </a:p>
        </p:txBody>
      </p:sp>
      <p:sp>
        <p:nvSpPr>
          <p:cNvPr id="9" name="Rounded Rectangle 8"/>
          <p:cNvSpPr/>
          <p:nvPr/>
        </p:nvSpPr>
        <p:spPr>
          <a:xfrm>
            <a:off x="640080" y="3840480"/>
            <a:ext cx="2377440" cy="10515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19" y="3931920"/>
            <a:ext cx="2194560" cy="365760"/>
          </a:xfrm>
          <a:prstGeom prst="rect">
            <a:avLst/>
          </a:prstGeom>
          <a:noFill/>
        </p:spPr>
        <p:txBody>
          <a:bodyPr wrap="square" lIns="36576" tIns="18288" rIns="36576" bIns="18288" anchor="t">
            <a:spAutoFit/>
          </a:bodyPr>
          <a:lstStyle/>
          <a:p>
            <a:pPr algn="ctr">
              <a:lnSpc>
                <a:spcPct val="110000"/>
              </a:lnSpc>
            </a:pPr>
            <a:r>
              <a:rPr sz="1350" b="1">
                <a:solidFill>
                  <a:srgbClr val="1E2761"/>
                </a:solidFill>
                <a:latin typeface="Arial"/>
              </a:rPr>
              <a:t>Equipo AgeCare</a:t>
            </a:r>
          </a:p>
        </p:txBody>
      </p:sp>
      <p:sp>
        <p:nvSpPr>
          <p:cNvPr id="11" name="TextBox 10"/>
          <p:cNvSpPr txBox="1"/>
          <p:nvPr/>
        </p:nvSpPr>
        <p:spPr>
          <a:xfrm>
            <a:off x="731519" y="4297680"/>
            <a:ext cx="2194560" cy="548639"/>
          </a:xfrm>
          <a:prstGeom prst="rect">
            <a:avLst/>
          </a:prstGeom>
          <a:noFill/>
        </p:spPr>
        <p:txBody>
          <a:bodyPr wrap="square" lIns="36576" tIns="18288" rIns="36576" bIns="18288" anchor="t">
            <a:spAutoFit/>
          </a:bodyPr>
          <a:lstStyle/>
          <a:p>
            <a:pPr algn="ctr">
              <a:lnSpc>
                <a:spcPct val="105000"/>
              </a:lnSpc>
            </a:pPr>
            <a:r>
              <a:rPr sz="1050" b="0">
                <a:solidFill>
                  <a:srgbClr val="6B7280"/>
                </a:solidFill>
                <a:latin typeface="Arial"/>
              </a:rPr>
              <a:t>usa la Consola de Administración</a:t>
            </a:r>
          </a:p>
        </p:txBody>
      </p:sp>
      <p:sp>
        <p:nvSpPr>
          <p:cNvPr id="12" name="Rounded Rectangle 11"/>
          <p:cNvSpPr/>
          <p:nvPr/>
        </p:nvSpPr>
        <p:spPr>
          <a:xfrm>
            <a:off x="3657600" y="1554480"/>
            <a:ext cx="2377440" cy="10515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49039" y="1645920"/>
            <a:ext cx="2194560" cy="365760"/>
          </a:xfrm>
          <a:prstGeom prst="rect">
            <a:avLst/>
          </a:prstGeom>
          <a:noFill/>
        </p:spPr>
        <p:txBody>
          <a:bodyPr wrap="square" lIns="36576" tIns="18288" rIns="36576" bIns="18288" anchor="t">
            <a:spAutoFit/>
          </a:bodyPr>
          <a:lstStyle/>
          <a:p>
            <a:pPr algn="ctr">
              <a:lnSpc>
                <a:spcPct val="110000"/>
              </a:lnSpc>
            </a:pPr>
            <a:r>
              <a:rPr sz="1350" b="1">
                <a:solidFill>
                  <a:srgbClr val="1E2761"/>
                </a:solidFill>
                <a:latin typeface="Arial"/>
              </a:rPr>
              <a:t>Sitio público</a:t>
            </a:r>
          </a:p>
        </p:txBody>
      </p:sp>
      <p:sp>
        <p:nvSpPr>
          <p:cNvPr id="14" name="TextBox 13"/>
          <p:cNvSpPr txBox="1"/>
          <p:nvPr/>
        </p:nvSpPr>
        <p:spPr>
          <a:xfrm>
            <a:off x="3749039" y="2011680"/>
            <a:ext cx="2194560" cy="548639"/>
          </a:xfrm>
          <a:prstGeom prst="rect">
            <a:avLst/>
          </a:prstGeom>
          <a:noFill/>
        </p:spPr>
        <p:txBody>
          <a:bodyPr wrap="square" lIns="36576" tIns="18288" rIns="36576" bIns="18288" anchor="t">
            <a:spAutoFit/>
          </a:bodyPr>
          <a:lstStyle/>
          <a:p>
            <a:pPr algn="ctr">
              <a:lnSpc>
                <a:spcPct val="105000"/>
              </a:lnSpc>
            </a:pPr>
            <a:r>
              <a:rPr sz="1050" b="0">
                <a:solidFill>
                  <a:srgbClr val="6B7280"/>
                </a:solidFill>
                <a:latin typeface="Arial"/>
              </a:rPr>
              <a:t>React + Vite · Vercel</a:t>
            </a:r>
          </a:p>
        </p:txBody>
      </p:sp>
      <p:sp>
        <p:nvSpPr>
          <p:cNvPr id="15" name="Rounded Rectangle 14"/>
          <p:cNvSpPr/>
          <p:nvPr/>
        </p:nvSpPr>
        <p:spPr>
          <a:xfrm>
            <a:off x="3657600" y="3840480"/>
            <a:ext cx="2377440" cy="10515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49039" y="3931920"/>
            <a:ext cx="2194560" cy="365760"/>
          </a:xfrm>
          <a:prstGeom prst="rect">
            <a:avLst/>
          </a:prstGeom>
          <a:noFill/>
        </p:spPr>
        <p:txBody>
          <a:bodyPr wrap="square" lIns="36576" tIns="18288" rIns="36576" bIns="18288" anchor="t">
            <a:spAutoFit/>
          </a:bodyPr>
          <a:lstStyle/>
          <a:p>
            <a:pPr algn="ctr">
              <a:lnSpc>
                <a:spcPct val="110000"/>
              </a:lnSpc>
            </a:pPr>
            <a:r>
              <a:rPr sz="1350" b="1">
                <a:solidFill>
                  <a:srgbClr val="1E2761"/>
                </a:solidFill>
                <a:latin typeface="Arial"/>
              </a:rPr>
              <a:t>Consola</a:t>
            </a:r>
          </a:p>
        </p:txBody>
      </p:sp>
      <p:sp>
        <p:nvSpPr>
          <p:cNvPr id="17" name="TextBox 16"/>
          <p:cNvSpPr txBox="1"/>
          <p:nvPr/>
        </p:nvSpPr>
        <p:spPr>
          <a:xfrm>
            <a:off x="3749039" y="4297680"/>
            <a:ext cx="2194560" cy="548639"/>
          </a:xfrm>
          <a:prstGeom prst="rect">
            <a:avLst/>
          </a:prstGeom>
          <a:noFill/>
        </p:spPr>
        <p:txBody>
          <a:bodyPr wrap="square" lIns="36576" tIns="18288" rIns="36576" bIns="18288" anchor="t">
            <a:spAutoFit/>
          </a:bodyPr>
          <a:lstStyle/>
          <a:p>
            <a:pPr algn="ctr">
              <a:lnSpc>
                <a:spcPct val="105000"/>
              </a:lnSpc>
            </a:pPr>
            <a:r>
              <a:rPr sz="1050" b="0">
                <a:solidFill>
                  <a:srgbClr val="6B7280"/>
                </a:solidFill>
                <a:latin typeface="Arial"/>
              </a:rPr>
              <a:t>React + Vite · Vercel</a:t>
            </a:r>
          </a:p>
        </p:txBody>
      </p:sp>
      <p:sp>
        <p:nvSpPr>
          <p:cNvPr id="18" name="Rounded Rectangle 17"/>
          <p:cNvSpPr/>
          <p:nvPr/>
        </p:nvSpPr>
        <p:spPr>
          <a:xfrm>
            <a:off x="6675120" y="1554480"/>
            <a:ext cx="2377440" cy="10515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59" y="1645920"/>
            <a:ext cx="2194560" cy="365760"/>
          </a:xfrm>
          <a:prstGeom prst="rect">
            <a:avLst/>
          </a:prstGeom>
          <a:noFill/>
        </p:spPr>
        <p:txBody>
          <a:bodyPr wrap="square" lIns="36576" tIns="18288" rIns="36576" bIns="18288" anchor="t">
            <a:spAutoFit/>
          </a:bodyPr>
          <a:lstStyle/>
          <a:p>
            <a:pPr algn="ctr">
              <a:lnSpc>
                <a:spcPct val="110000"/>
              </a:lnSpc>
            </a:pPr>
            <a:r>
              <a:rPr sz="1350" b="1">
                <a:solidFill>
                  <a:srgbClr val="1E2761"/>
                </a:solidFill>
                <a:latin typeface="Arial"/>
              </a:rPr>
              <a:t>API del sitio</a:t>
            </a:r>
          </a:p>
        </p:txBody>
      </p:sp>
      <p:sp>
        <p:nvSpPr>
          <p:cNvPr id="20" name="TextBox 19"/>
          <p:cNvSpPr txBox="1"/>
          <p:nvPr/>
        </p:nvSpPr>
        <p:spPr>
          <a:xfrm>
            <a:off x="6766559" y="2011680"/>
            <a:ext cx="2194560" cy="548639"/>
          </a:xfrm>
          <a:prstGeom prst="rect">
            <a:avLst/>
          </a:prstGeom>
          <a:noFill/>
        </p:spPr>
        <p:txBody>
          <a:bodyPr wrap="square" lIns="36576" tIns="18288" rIns="36576" bIns="18288" anchor="t">
            <a:spAutoFit/>
          </a:bodyPr>
          <a:lstStyle/>
          <a:p>
            <a:pPr algn="ctr">
              <a:lnSpc>
                <a:spcPct val="105000"/>
              </a:lnSpc>
            </a:pPr>
            <a:r>
              <a:rPr sz="1050" b="0">
                <a:solidFill>
                  <a:srgbClr val="6B7280"/>
                </a:solidFill>
                <a:latin typeface="Arial"/>
              </a:rPr>
              <a:t>FastAPI · Vercel</a:t>
            </a:r>
          </a:p>
        </p:txBody>
      </p:sp>
      <p:sp>
        <p:nvSpPr>
          <p:cNvPr id="21" name="Rounded Rectangle 20"/>
          <p:cNvSpPr/>
          <p:nvPr/>
        </p:nvSpPr>
        <p:spPr>
          <a:xfrm>
            <a:off x="6675120" y="3840480"/>
            <a:ext cx="2377440" cy="10515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66559" y="3931920"/>
            <a:ext cx="2194560" cy="365760"/>
          </a:xfrm>
          <a:prstGeom prst="rect">
            <a:avLst/>
          </a:prstGeom>
          <a:noFill/>
        </p:spPr>
        <p:txBody>
          <a:bodyPr wrap="square" lIns="36576" tIns="18288" rIns="36576" bIns="18288" anchor="t">
            <a:spAutoFit/>
          </a:bodyPr>
          <a:lstStyle/>
          <a:p>
            <a:pPr algn="ctr">
              <a:lnSpc>
                <a:spcPct val="110000"/>
              </a:lnSpc>
            </a:pPr>
            <a:r>
              <a:rPr sz="1350" b="1">
                <a:solidFill>
                  <a:srgbClr val="1E2761"/>
                </a:solidFill>
                <a:latin typeface="Arial"/>
              </a:rPr>
              <a:t>API de la Consola</a:t>
            </a:r>
          </a:p>
        </p:txBody>
      </p:sp>
      <p:sp>
        <p:nvSpPr>
          <p:cNvPr id="23" name="TextBox 22"/>
          <p:cNvSpPr txBox="1"/>
          <p:nvPr/>
        </p:nvSpPr>
        <p:spPr>
          <a:xfrm>
            <a:off x="6766559" y="4297680"/>
            <a:ext cx="2194560" cy="548639"/>
          </a:xfrm>
          <a:prstGeom prst="rect">
            <a:avLst/>
          </a:prstGeom>
          <a:noFill/>
        </p:spPr>
        <p:txBody>
          <a:bodyPr wrap="square" lIns="36576" tIns="18288" rIns="36576" bIns="18288" anchor="t">
            <a:spAutoFit/>
          </a:bodyPr>
          <a:lstStyle/>
          <a:p>
            <a:pPr algn="ctr">
              <a:lnSpc>
                <a:spcPct val="105000"/>
              </a:lnSpc>
            </a:pPr>
            <a:r>
              <a:rPr sz="1050" b="0">
                <a:solidFill>
                  <a:srgbClr val="6B7280"/>
                </a:solidFill>
                <a:latin typeface="Arial"/>
              </a:rPr>
              <a:t>FastAPI · Vercel</a:t>
            </a:r>
          </a:p>
        </p:txBody>
      </p:sp>
      <p:sp>
        <p:nvSpPr>
          <p:cNvPr id="24" name="Rounded Rectangle 23"/>
          <p:cNvSpPr/>
          <p:nvPr/>
        </p:nvSpPr>
        <p:spPr>
          <a:xfrm>
            <a:off x="9555480" y="2697480"/>
            <a:ext cx="2011680" cy="1234440"/>
          </a:xfrm>
          <a:prstGeom prst="roundRect">
            <a:avLst>
              <a:gd name="adj" fmla="val 10000"/>
            </a:avLst>
          </a:prstGeom>
          <a:solidFill>
            <a:srgbClr val="1E2761"/>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46919" y="2788920"/>
            <a:ext cx="1828800" cy="365760"/>
          </a:xfrm>
          <a:prstGeom prst="rect">
            <a:avLst/>
          </a:prstGeom>
          <a:noFill/>
        </p:spPr>
        <p:txBody>
          <a:bodyPr wrap="square" lIns="36576" tIns="18288" rIns="36576" bIns="18288" anchor="t">
            <a:spAutoFit/>
          </a:bodyPr>
          <a:lstStyle/>
          <a:p>
            <a:pPr algn="ctr">
              <a:lnSpc>
                <a:spcPct val="110000"/>
              </a:lnSpc>
            </a:pPr>
            <a:r>
              <a:rPr sz="1350" b="1">
                <a:solidFill>
                  <a:srgbClr val="FFFFFF"/>
                </a:solidFill>
                <a:latin typeface="Arial"/>
              </a:rPr>
              <a:t>Supabase</a:t>
            </a:r>
          </a:p>
        </p:txBody>
      </p:sp>
      <p:sp>
        <p:nvSpPr>
          <p:cNvPr id="26" name="TextBox 25"/>
          <p:cNvSpPr txBox="1"/>
          <p:nvPr/>
        </p:nvSpPr>
        <p:spPr>
          <a:xfrm>
            <a:off x="9646919" y="3154680"/>
            <a:ext cx="1828800" cy="731520"/>
          </a:xfrm>
          <a:prstGeom prst="rect">
            <a:avLst/>
          </a:prstGeom>
          <a:noFill/>
        </p:spPr>
        <p:txBody>
          <a:bodyPr wrap="square" lIns="36576" tIns="18288" rIns="36576" bIns="18288" anchor="t">
            <a:spAutoFit/>
          </a:bodyPr>
          <a:lstStyle/>
          <a:p>
            <a:pPr algn="ctr">
              <a:lnSpc>
                <a:spcPct val="105000"/>
              </a:lnSpc>
            </a:pPr>
            <a:r>
              <a:rPr sz="1050" b="0">
                <a:solidFill>
                  <a:srgbClr val="FFFFFF"/>
                </a:solidFill>
                <a:latin typeface="Arial"/>
              </a:rPr>
              <a:t>PostgreSQL + Storage de archivos</a:t>
            </a:r>
          </a:p>
        </p:txBody>
      </p:sp>
      <p:cxnSp>
        <p:nvCxnSpPr>
          <p:cNvPr id="27" name="Connector 26"/>
          <p:cNvCxnSpPr/>
          <p:nvPr/>
        </p:nvCxnSpPr>
        <p:spPr>
          <a:xfrm>
            <a:off x="3017520" y="2075688"/>
            <a:ext cx="640080" cy="0"/>
          </a:xfrm>
          <a:prstGeom prst="line">
            <a:avLst/>
          </a:prstGeom>
          <a:ln w="28575">
            <a:solidFill>
              <a:srgbClr val="C97F32"/>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35040" y="2075688"/>
            <a:ext cx="640080" cy="0"/>
          </a:xfrm>
          <a:prstGeom prst="line">
            <a:avLst/>
          </a:prstGeom>
          <a:ln w="28575">
            <a:solidFill>
              <a:srgbClr val="C97F3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017520" y="4361688"/>
            <a:ext cx="640080" cy="0"/>
          </a:xfrm>
          <a:prstGeom prst="line">
            <a:avLst/>
          </a:prstGeom>
          <a:ln w="28575">
            <a:solidFill>
              <a:srgbClr val="C97F3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35040" y="4361688"/>
            <a:ext cx="640080" cy="0"/>
          </a:xfrm>
          <a:prstGeom prst="line">
            <a:avLst/>
          </a:prstGeom>
          <a:ln w="28575">
            <a:solidFill>
              <a:srgbClr val="C97F32"/>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863840" y="2606040"/>
            <a:ext cx="0" cy="1234440"/>
          </a:xfrm>
          <a:prstGeom prst="line">
            <a:avLst/>
          </a:prstGeom>
          <a:ln w="28575">
            <a:solidFill>
              <a:srgbClr val="C97F32"/>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052560" y="2075688"/>
            <a:ext cx="502920" cy="822960"/>
          </a:xfrm>
          <a:prstGeom prst="line">
            <a:avLst/>
          </a:prstGeom>
          <a:ln w="28575">
            <a:solidFill>
              <a:srgbClr val="C97F32"/>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052560" y="3538727"/>
            <a:ext cx="502920" cy="822961"/>
          </a:xfrm>
          <a:prstGeom prst="line">
            <a:avLst/>
          </a:prstGeom>
          <a:ln w="28575">
            <a:solidFill>
              <a:srgbClr val="C97F32"/>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001000" y="3063240"/>
            <a:ext cx="1554480" cy="457200"/>
          </a:xfrm>
          <a:prstGeom prst="rect">
            <a:avLst/>
          </a:prstGeom>
          <a:noFill/>
        </p:spPr>
        <p:txBody>
          <a:bodyPr wrap="square" lIns="36576" tIns="18288" rIns="36576" bIns="18288" anchor="t">
            <a:spAutoFit/>
          </a:bodyPr>
          <a:lstStyle/>
          <a:p>
            <a:pPr algn="l">
              <a:lnSpc>
                <a:spcPct val="110000"/>
              </a:lnSpc>
            </a:pPr>
            <a:r>
              <a:rPr sz="1000" b="1">
                <a:solidFill>
                  <a:srgbClr val="C97F32"/>
                </a:solidFill>
                <a:latin typeface="Arial"/>
              </a:rPr>
              <a:t>avisos y consultas entre ambas</a:t>
            </a:r>
          </a:p>
        </p:txBody>
      </p:sp>
      <p:sp>
        <p:nvSpPr>
          <p:cNvPr id="35" name="Rounded Rectangle 34"/>
          <p:cNvSpPr/>
          <p:nvPr/>
        </p:nvSpPr>
        <p:spPr>
          <a:xfrm>
            <a:off x="640080" y="5257800"/>
            <a:ext cx="10927080" cy="96012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8680" y="5321808"/>
            <a:ext cx="10515600" cy="868680"/>
          </a:xfrm>
          <a:prstGeom prst="rect">
            <a:avLst/>
          </a:prstGeom>
          <a:noFill/>
        </p:spPr>
        <p:txBody>
          <a:bodyPr wrap="square" lIns="36576" tIns="18288" rIns="36576" bIns="18288" anchor="ctr">
            <a:spAutoFit/>
          </a:bodyPr>
          <a:lstStyle/>
          <a:p>
            <a:pPr algn="l">
              <a:lnSpc>
                <a:spcPct val="115000"/>
              </a:lnSpc>
            </a:pPr>
            <a:r>
              <a:rPr sz="1250" b="1">
                <a:solidFill>
                  <a:srgbClr val="1E2761"/>
                </a:solidFill>
                <a:latin typeface="Arial"/>
              </a:rPr>
              <a:t>Despliegue continuo: </a:t>
            </a:r>
            <a:r>
              <a:rPr sz="1250" b="0">
                <a:solidFill>
                  <a:srgbClr val="22283B"/>
                </a:solidFill>
                <a:latin typeface="Arial"/>
              </a:rPr>
              <a:t>cada cambio en la rama principal de GitHub se publica solo en Vercel (cuatro proyectos). Cuando el equipo aprueba un documento o un perfil en la Consola, la API del sitio se entera; y si un aviso se pierde, el sitio lo consulta y se pone al día.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515600" cy="274320"/>
          </a:xfrm>
          <a:prstGeom prst="rect">
            <a:avLst/>
          </a:prstGeom>
          <a:noFill/>
        </p:spPr>
        <p:txBody>
          <a:bodyPr wrap="square" lIns="36576" tIns="18288" rIns="36576" bIns="18288" anchor="t">
            <a:spAutoFit/>
          </a:bodyPr>
          <a:lstStyle/>
          <a:p>
            <a:pPr algn="l">
              <a:lnSpc>
                <a:spcPct val="110000"/>
              </a:lnSpc>
            </a:pPr>
            <a:r>
              <a:rPr sz="1150" b="1">
                <a:solidFill>
                  <a:srgbClr val="C97F32"/>
                </a:solidFill>
                <a:latin typeface="Arial"/>
              </a:rPr>
              <a:t>DIFICULTADES Y AJUSTES</a:t>
            </a:r>
          </a:p>
        </p:txBody>
      </p:sp>
      <p:sp>
        <p:nvSpPr>
          <p:cNvPr id="3" name="TextBox 2"/>
          <p:cNvSpPr txBox="1"/>
          <p:nvPr/>
        </p:nvSpPr>
        <p:spPr>
          <a:xfrm>
            <a:off x="640080" y="713232"/>
            <a:ext cx="10881360" cy="640080"/>
          </a:xfrm>
          <a:prstGeom prst="rect">
            <a:avLst/>
          </a:prstGeom>
          <a:noFill/>
        </p:spPr>
        <p:txBody>
          <a:bodyPr wrap="square" lIns="36576" tIns="18288" rIns="36576" bIns="18288" anchor="t">
            <a:spAutoFit/>
          </a:bodyPr>
          <a:lstStyle/>
          <a:p>
            <a:pPr algn="l">
              <a:lnSpc>
                <a:spcPct val="110000"/>
              </a:lnSpc>
            </a:pPr>
            <a:r>
              <a:rPr sz="3000" b="1">
                <a:solidFill>
                  <a:srgbClr val="1E2761"/>
                </a:solidFill>
                <a:latin typeface="Arial"/>
              </a:rPr>
              <a:t>Qué nos costó y cómo lo resolvimos</a:t>
            </a:r>
          </a:p>
        </p:txBody>
      </p:sp>
      <p:sp>
        <p:nvSpPr>
          <p:cNvPr id="4" name="TextBox 3"/>
          <p:cNvSpPr txBox="1"/>
          <p:nvPr/>
        </p:nvSpPr>
        <p:spPr>
          <a:xfrm>
            <a:off x="640080" y="6446520"/>
            <a:ext cx="8229600" cy="274320"/>
          </a:xfrm>
          <a:prstGeom prst="rect">
            <a:avLst/>
          </a:prstGeom>
          <a:noFill/>
        </p:spPr>
        <p:txBody>
          <a:bodyPr wrap="square" lIns="36576" tIns="18288" rIns="36576" bIns="18288" anchor="t">
            <a:spAutoFit/>
          </a:bodyPr>
          <a:lstStyle/>
          <a:p>
            <a:pPr algn="l">
              <a:lnSpc>
                <a:spcPct val="110000"/>
              </a:lnSpc>
            </a:pPr>
            <a:r>
              <a:rPr sz="900" b="0">
                <a:solidFill>
                  <a:srgbClr val="9AA5B1"/>
                </a:solidFill>
                <a:latin typeface="Arial"/>
              </a:rPr>
              <a:t>AgeCare · Marketing y Fidelización · Avance Proyecto APT (Fase 2)</a:t>
            </a:r>
          </a:p>
        </p:txBody>
      </p:sp>
      <p:sp>
        <p:nvSpPr>
          <p:cNvPr id="5" name="TextBox 4"/>
          <p:cNvSpPr txBox="1"/>
          <p:nvPr/>
        </p:nvSpPr>
        <p:spPr>
          <a:xfrm>
            <a:off x="10972800" y="6446520"/>
            <a:ext cx="640080" cy="177421"/>
          </a:xfrm>
          <a:prstGeom prst="rect">
            <a:avLst/>
          </a:prstGeom>
          <a:noFill/>
        </p:spPr>
        <p:txBody>
          <a:bodyPr wrap="square" lIns="36576" tIns="18288" rIns="36576" bIns="18288" anchor="t">
            <a:spAutoFit/>
          </a:bodyPr>
          <a:lstStyle/>
          <a:p>
            <a:pPr algn="r">
              <a:lnSpc>
                <a:spcPct val="110000"/>
              </a:lnSpc>
            </a:pPr>
            <a:r>
              <a:rPr lang="es-CL" sz="900" b="0">
                <a:solidFill>
                  <a:srgbClr val="9AA5B1"/>
                </a:solidFill>
                <a:latin typeface="Arial"/>
              </a:rPr>
              <a:t>9</a:t>
            </a:r>
            <a:endParaRPr sz="900" b="0">
              <a:solidFill>
                <a:srgbClr val="9AA5B1"/>
              </a:solidFill>
              <a:latin typeface="Arial"/>
            </a:endParaRPr>
          </a:p>
        </p:txBody>
      </p:sp>
      <p:sp>
        <p:nvSpPr>
          <p:cNvPr id="6" name="Rounded Rectangle 5"/>
          <p:cNvSpPr/>
          <p:nvPr/>
        </p:nvSpPr>
        <p:spPr>
          <a:xfrm>
            <a:off x="640080" y="1508760"/>
            <a:ext cx="4754880" cy="8229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581912"/>
            <a:ext cx="4434840" cy="731520"/>
          </a:xfrm>
          <a:prstGeom prst="rect">
            <a:avLst/>
          </a:prstGeom>
          <a:noFill/>
        </p:spPr>
        <p:txBody>
          <a:bodyPr wrap="square" lIns="36576" tIns="18288" rIns="36576" bIns="18288" anchor="ctr">
            <a:spAutoFit/>
          </a:bodyPr>
          <a:lstStyle/>
          <a:p>
            <a:pPr algn="l">
              <a:lnSpc>
                <a:spcPct val="105000"/>
              </a:lnSpc>
            </a:pPr>
            <a:r>
              <a:rPr sz="1300" b="1">
                <a:solidFill>
                  <a:srgbClr val="1E2761"/>
                </a:solidFill>
                <a:latin typeface="Arial"/>
              </a:rPr>
              <a:t>El despliegue en Vercel falló varias veces</a:t>
            </a:r>
          </a:p>
        </p:txBody>
      </p:sp>
      <p:sp>
        <p:nvSpPr>
          <p:cNvPr id="8" name="TextBox 7"/>
          <p:cNvSpPr txBox="1"/>
          <p:nvPr/>
        </p:nvSpPr>
        <p:spPr>
          <a:xfrm>
            <a:off x="5532120" y="1764792"/>
            <a:ext cx="457200" cy="365760"/>
          </a:xfrm>
          <a:prstGeom prst="rect">
            <a:avLst/>
          </a:prstGeom>
          <a:noFill/>
        </p:spPr>
        <p:txBody>
          <a:bodyPr wrap="square" lIns="36576" tIns="18288" rIns="36576" bIns="18288" anchor="t">
            <a:spAutoFit/>
          </a:bodyPr>
          <a:lstStyle/>
          <a:p>
            <a:pPr algn="ctr">
              <a:lnSpc>
                <a:spcPct val="110000"/>
              </a:lnSpc>
            </a:pPr>
            <a:r>
              <a:rPr sz="2000" b="1">
                <a:solidFill>
                  <a:srgbClr val="C97F32"/>
                </a:solidFill>
                <a:latin typeface="Arial"/>
              </a:rPr>
              <a:t>→</a:t>
            </a:r>
          </a:p>
        </p:txBody>
      </p:sp>
      <p:sp>
        <p:nvSpPr>
          <p:cNvPr id="9" name="Rounded Rectangle 8"/>
          <p:cNvSpPr/>
          <p:nvPr/>
        </p:nvSpPr>
        <p:spPr>
          <a:xfrm>
            <a:off x="6035040" y="1508760"/>
            <a:ext cx="5486400" cy="822960"/>
          </a:xfrm>
          <a:prstGeom prst="roundRect">
            <a:avLst>
              <a:gd name="adj" fmla="val 10000"/>
            </a:avLst>
          </a:prstGeom>
          <a:solidFill>
            <a:srgbClr val="FFFFFF"/>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563624"/>
            <a:ext cx="5166360" cy="731520"/>
          </a:xfrm>
          <a:prstGeom prst="rect">
            <a:avLst/>
          </a:prstGeom>
          <a:noFill/>
        </p:spPr>
        <p:txBody>
          <a:bodyPr wrap="square" lIns="36576" tIns="18288" rIns="36576" bIns="18288" anchor="ctr">
            <a:spAutoFit/>
          </a:bodyPr>
          <a:lstStyle/>
          <a:p>
            <a:pPr algn="l">
              <a:lnSpc>
                <a:spcPct val="105000"/>
              </a:lnSpc>
            </a:pPr>
            <a:r>
              <a:rPr sz="1200" b="0">
                <a:solidFill>
                  <a:srgbClr val="22283B"/>
                </a:solidFill>
                <a:latin typeface="Arial"/>
              </a:rPr>
              <a:t>APIs con 404, credencial de la base mal puesta y una dependencia de Windows. Se corrigió la configuración.</a:t>
            </a:r>
          </a:p>
        </p:txBody>
      </p:sp>
      <p:sp>
        <p:nvSpPr>
          <p:cNvPr id="11" name="Rounded Rectangle 10"/>
          <p:cNvSpPr/>
          <p:nvPr/>
        </p:nvSpPr>
        <p:spPr>
          <a:xfrm>
            <a:off x="640080" y="2441448"/>
            <a:ext cx="4754880" cy="8229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659113"/>
            <a:ext cx="4434840" cy="442493"/>
          </a:xfrm>
          <a:prstGeom prst="rect">
            <a:avLst/>
          </a:prstGeom>
          <a:noFill/>
        </p:spPr>
        <p:txBody>
          <a:bodyPr wrap="square" lIns="36576" tIns="18288" rIns="36576" bIns="18288" anchor="ctr">
            <a:spAutoFit/>
          </a:bodyPr>
          <a:lstStyle/>
          <a:p>
            <a:pPr algn="l">
              <a:lnSpc>
                <a:spcPct val="105000"/>
              </a:lnSpc>
            </a:pPr>
            <a:r>
              <a:rPr lang="es-ES" sz="1300" b="1">
                <a:solidFill>
                  <a:srgbClr val="1E2761"/>
                </a:solidFill>
                <a:latin typeface="Arial"/>
              </a:rPr>
              <a:t>Producción se comportaba distinto a nuestros computadores</a:t>
            </a:r>
            <a:endParaRPr sz="1300" b="1">
              <a:solidFill>
                <a:srgbClr val="1E2761"/>
              </a:solidFill>
              <a:latin typeface="Arial"/>
            </a:endParaRPr>
          </a:p>
        </p:txBody>
      </p:sp>
      <p:sp>
        <p:nvSpPr>
          <p:cNvPr id="13" name="TextBox 12"/>
          <p:cNvSpPr txBox="1"/>
          <p:nvPr/>
        </p:nvSpPr>
        <p:spPr>
          <a:xfrm>
            <a:off x="5532120" y="2697480"/>
            <a:ext cx="457200" cy="365760"/>
          </a:xfrm>
          <a:prstGeom prst="rect">
            <a:avLst/>
          </a:prstGeom>
          <a:noFill/>
        </p:spPr>
        <p:txBody>
          <a:bodyPr wrap="square" lIns="36576" tIns="18288" rIns="36576" bIns="18288" anchor="t">
            <a:spAutoFit/>
          </a:bodyPr>
          <a:lstStyle/>
          <a:p>
            <a:pPr algn="ctr">
              <a:lnSpc>
                <a:spcPct val="110000"/>
              </a:lnSpc>
            </a:pPr>
            <a:r>
              <a:rPr sz="2000" b="1">
                <a:solidFill>
                  <a:srgbClr val="C97F32"/>
                </a:solidFill>
                <a:latin typeface="Arial"/>
              </a:rPr>
              <a:t>→</a:t>
            </a:r>
          </a:p>
        </p:txBody>
      </p:sp>
      <p:sp>
        <p:nvSpPr>
          <p:cNvPr id="14" name="Rounded Rectangle 13"/>
          <p:cNvSpPr/>
          <p:nvPr/>
        </p:nvSpPr>
        <p:spPr>
          <a:xfrm>
            <a:off x="6035040" y="2441448"/>
            <a:ext cx="5486400" cy="822960"/>
          </a:xfrm>
          <a:prstGeom prst="roundRect">
            <a:avLst>
              <a:gd name="adj" fmla="val 10000"/>
            </a:avLst>
          </a:prstGeom>
          <a:solidFill>
            <a:srgbClr val="FFFFFF"/>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0" y="2559457"/>
            <a:ext cx="5166360" cy="605230"/>
          </a:xfrm>
          <a:prstGeom prst="rect">
            <a:avLst/>
          </a:prstGeom>
          <a:noFill/>
        </p:spPr>
        <p:txBody>
          <a:bodyPr wrap="square" lIns="36576" tIns="18288" rIns="36576" bIns="18288" anchor="ctr">
            <a:spAutoFit/>
          </a:bodyPr>
          <a:lstStyle/>
          <a:p>
            <a:pPr algn="l">
              <a:lnSpc>
                <a:spcPct val="105000"/>
              </a:lnSpc>
            </a:pPr>
            <a:r>
              <a:rPr lang="es-ES" sz="1200" b="0">
                <a:solidFill>
                  <a:srgbClr val="22283B"/>
                </a:solidFill>
                <a:latin typeface="Arial"/>
              </a:rPr>
              <a:t>Una API caía por un error que Python 3.12 (el de producción) no acepta y otra por una librería sin declarar.</a:t>
            </a:r>
            <a:r>
              <a:rPr sz="1200" b="0">
                <a:solidFill>
                  <a:srgbClr val="22283B"/>
                </a:solidFill>
                <a:latin typeface="Arial"/>
              </a:rPr>
              <a:t> Ahora se prueba en un entorno limpio antes de subir.</a:t>
            </a:r>
          </a:p>
        </p:txBody>
      </p:sp>
      <p:sp>
        <p:nvSpPr>
          <p:cNvPr id="16" name="Rounded Rectangle 15"/>
          <p:cNvSpPr/>
          <p:nvPr/>
        </p:nvSpPr>
        <p:spPr>
          <a:xfrm>
            <a:off x="640080" y="3374136"/>
            <a:ext cx="4754880" cy="8229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3447288"/>
            <a:ext cx="4434840" cy="731520"/>
          </a:xfrm>
          <a:prstGeom prst="rect">
            <a:avLst/>
          </a:prstGeom>
          <a:noFill/>
        </p:spPr>
        <p:txBody>
          <a:bodyPr wrap="square" lIns="36576" tIns="18288" rIns="36576" bIns="18288" anchor="ctr">
            <a:spAutoFit/>
          </a:bodyPr>
          <a:lstStyle/>
          <a:p>
            <a:pPr algn="l">
              <a:lnSpc>
                <a:spcPct val="105000"/>
              </a:lnSpc>
            </a:pPr>
            <a:r>
              <a:rPr sz="1300" b="1">
                <a:solidFill>
                  <a:srgbClr val="1E2761"/>
                </a:solidFill>
                <a:latin typeface="Arial"/>
              </a:rPr>
              <a:t>Avisos perdidos entre las dos APIs</a:t>
            </a:r>
          </a:p>
        </p:txBody>
      </p:sp>
      <p:sp>
        <p:nvSpPr>
          <p:cNvPr id="18" name="TextBox 17"/>
          <p:cNvSpPr txBox="1"/>
          <p:nvPr/>
        </p:nvSpPr>
        <p:spPr>
          <a:xfrm>
            <a:off x="5532120" y="3630168"/>
            <a:ext cx="457200" cy="365760"/>
          </a:xfrm>
          <a:prstGeom prst="rect">
            <a:avLst/>
          </a:prstGeom>
          <a:noFill/>
        </p:spPr>
        <p:txBody>
          <a:bodyPr wrap="square" lIns="36576" tIns="18288" rIns="36576" bIns="18288" anchor="t">
            <a:spAutoFit/>
          </a:bodyPr>
          <a:lstStyle/>
          <a:p>
            <a:pPr algn="ctr">
              <a:lnSpc>
                <a:spcPct val="110000"/>
              </a:lnSpc>
            </a:pPr>
            <a:r>
              <a:rPr sz="2000" b="1">
                <a:solidFill>
                  <a:srgbClr val="C97F32"/>
                </a:solidFill>
                <a:latin typeface="Arial"/>
              </a:rPr>
              <a:t>→</a:t>
            </a:r>
          </a:p>
        </p:txBody>
      </p:sp>
      <p:sp>
        <p:nvSpPr>
          <p:cNvPr id="19" name="Rounded Rectangle 18"/>
          <p:cNvSpPr/>
          <p:nvPr/>
        </p:nvSpPr>
        <p:spPr>
          <a:xfrm>
            <a:off x="6035040" y="3374136"/>
            <a:ext cx="5486400" cy="822960"/>
          </a:xfrm>
          <a:prstGeom prst="roundRect">
            <a:avLst>
              <a:gd name="adj" fmla="val 10000"/>
            </a:avLst>
          </a:prstGeom>
          <a:solidFill>
            <a:srgbClr val="FFFFFF"/>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0" y="3429000"/>
            <a:ext cx="5166360" cy="731520"/>
          </a:xfrm>
          <a:prstGeom prst="rect">
            <a:avLst/>
          </a:prstGeom>
          <a:noFill/>
        </p:spPr>
        <p:txBody>
          <a:bodyPr wrap="square" lIns="36576" tIns="18288" rIns="36576" bIns="18288" anchor="ctr">
            <a:spAutoFit/>
          </a:bodyPr>
          <a:lstStyle/>
          <a:p>
            <a:pPr algn="l">
              <a:lnSpc>
                <a:spcPct val="105000"/>
              </a:lnSpc>
            </a:pPr>
            <a:r>
              <a:rPr sz="1200" b="0">
                <a:solidFill>
                  <a:srgbClr val="22283B"/>
                </a:solidFill>
                <a:latin typeface="Arial"/>
              </a:rPr>
              <a:t>La Consola aprobaba y el sitio seguía en «revisión». Cada lado consulta al otro y se pone al día.</a:t>
            </a:r>
          </a:p>
        </p:txBody>
      </p:sp>
      <p:sp>
        <p:nvSpPr>
          <p:cNvPr id="21" name="Rounded Rectangle 20"/>
          <p:cNvSpPr/>
          <p:nvPr/>
        </p:nvSpPr>
        <p:spPr>
          <a:xfrm>
            <a:off x="640080" y="4306824"/>
            <a:ext cx="4754880" cy="8229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379976"/>
            <a:ext cx="4434840" cy="731520"/>
          </a:xfrm>
          <a:prstGeom prst="rect">
            <a:avLst/>
          </a:prstGeom>
          <a:noFill/>
        </p:spPr>
        <p:txBody>
          <a:bodyPr wrap="square" lIns="36576" tIns="18288" rIns="36576" bIns="18288" anchor="ctr">
            <a:spAutoFit/>
          </a:bodyPr>
          <a:lstStyle/>
          <a:p>
            <a:pPr algn="l">
              <a:lnSpc>
                <a:spcPct val="105000"/>
              </a:lnSpc>
            </a:pPr>
            <a:r>
              <a:rPr sz="1300" b="1">
                <a:solidFill>
                  <a:srgbClr val="1E2761"/>
                </a:solidFill>
                <a:latin typeface="Arial"/>
              </a:rPr>
              <a:t>Docker Desktop inestable</a:t>
            </a:r>
          </a:p>
        </p:txBody>
      </p:sp>
      <p:sp>
        <p:nvSpPr>
          <p:cNvPr id="23" name="TextBox 22"/>
          <p:cNvSpPr txBox="1"/>
          <p:nvPr/>
        </p:nvSpPr>
        <p:spPr>
          <a:xfrm>
            <a:off x="5532120" y="4562856"/>
            <a:ext cx="457200" cy="365760"/>
          </a:xfrm>
          <a:prstGeom prst="rect">
            <a:avLst/>
          </a:prstGeom>
          <a:noFill/>
        </p:spPr>
        <p:txBody>
          <a:bodyPr wrap="square" lIns="36576" tIns="18288" rIns="36576" bIns="18288" anchor="t">
            <a:spAutoFit/>
          </a:bodyPr>
          <a:lstStyle/>
          <a:p>
            <a:pPr algn="ctr">
              <a:lnSpc>
                <a:spcPct val="110000"/>
              </a:lnSpc>
            </a:pPr>
            <a:r>
              <a:rPr sz="2000" b="1">
                <a:solidFill>
                  <a:srgbClr val="C97F32"/>
                </a:solidFill>
                <a:latin typeface="Arial"/>
              </a:rPr>
              <a:t>→</a:t>
            </a:r>
          </a:p>
        </p:txBody>
      </p:sp>
      <p:sp>
        <p:nvSpPr>
          <p:cNvPr id="24" name="Rounded Rectangle 23"/>
          <p:cNvSpPr/>
          <p:nvPr/>
        </p:nvSpPr>
        <p:spPr>
          <a:xfrm>
            <a:off x="6035040" y="4306824"/>
            <a:ext cx="5486400" cy="822960"/>
          </a:xfrm>
          <a:prstGeom prst="roundRect">
            <a:avLst>
              <a:gd name="adj" fmla="val 10000"/>
            </a:avLst>
          </a:prstGeom>
          <a:solidFill>
            <a:srgbClr val="FFFFFF"/>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0" y="4361688"/>
            <a:ext cx="5166360" cy="731520"/>
          </a:xfrm>
          <a:prstGeom prst="rect">
            <a:avLst/>
          </a:prstGeom>
          <a:noFill/>
        </p:spPr>
        <p:txBody>
          <a:bodyPr wrap="square" lIns="36576" tIns="18288" rIns="36576" bIns="18288" anchor="ctr">
            <a:spAutoFit/>
          </a:bodyPr>
          <a:lstStyle/>
          <a:p>
            <a:pPr algn="l">
              <a:lnSpc>
                <a:spcPct val="105000"/>
              </a:lnSpc>
            </a:pPr>
            <a:r>
              <a:rPr sz="1200" b="0">
                <a:solidFill>
                  <a:srgbClr val="22283B"/>
                </a:solidFill>
                <a:latin typeface="Arial"/>
              </a:rPr>
              <a:t>Pruebas que corren sin Docker, con SQLite.</a:t>
            </a:r>
          </a:p>
        </p:txBody>
      </p:sp>
      <p:sp>
        <p:nvSpPr>
          <p:cNvPr id="26" name="Rounded Rectangle 25"/>
          <p:cNvSpPr/>
          <p:nvPr/>
        </p:nvSpPr>
        <p:spPr>
          <a:xfrm>
            <a:off x="640080" y="5239512"/>
            <a:ext cx="4754880" cy="822960"/>
          </a:xfrm>
          <a:prstGeom prst="roundRect">
            <a:avLst>
              <a:gd name="adj" fmla="val 10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562206"/>
            <a:ext cx="4434840" cy="232436"/>
          </a:xfrm>
          <a:prstGeom prst="rect">
            <a:avLst/>
          </a:prstGeom>
          <a:noFill/>
        </p:spPr>
        <p:txBody>
          <a:bodyPr wrap="square" lIns="36576" tIns="18288" rIns="36576" bIns="18288" anchor="ctr">
            <a:spAutoFit/>
          </a:bodyPr>
          <a:lstStyle/>
          <a:p>
            <a:pPr algn="l">
              <a:lnSpc>
                <a:spcPct val="105000"/>
              </a:lnSpc>
            </a:pPr>
            <a:r>
              <a:rPr lang="es-ES" sz="1300" b="1">
                <a:solidFill>
                  <a:srgbClr val="1E2761"/>
                </a:solidFill>
                <a:latin typeface="Arial"/>
              </a:rPr>
              <a:t>Límite de 4,5 MB por petición en Vercel</a:t>
            </a:r>
            <a:endParaRPr sz="1300" b="1">
              <a:solidFill>
                <a:srgbClr val="1E2761"/>
              </a:solidFill>
              <a:latin typeface="Arial"/>
            </a:endParaRPr>
          </a:p>
        </p:txBody>
      </p:sp>
      <p:sp>
        <p:nvSpPr>
          <p:cNvPr id="28" name="TextBox 27"/>
          <p:cNvSpPr txBox="1"/>
          <p:nvPr/>
        </p:nvSpPr>
        <p:spPr>
          <a:xfrm>
            <a:off x="5532120" y="5495544"/>
            <a:ext cx="457200" cy="365760"/>
          </a:xfrm>
          <a:prstGeom prst="rect">
            <a:avLst/>
          </a:prstGeom>
          <a:noFill/>
        </p:spPr>
        <p:txBody>
          <a:bodyPr wrap="square" lIns="36576" tIns="18288" rIns="36576" bIns="18288" anchor="t">
            <a:spAutoFit/>
          </a:bodyPr>
          <a:lstStyle/>
          <a:p>
            <a:pPr algn="ctr">
              <a:lnSpc>
                <a:spcPct val="110000"/>
              </a:lnSpc>
            </a:pPr>
            <a:r>
              <a:rPr sz="2000" b="1">
                <a:solidFill>
                  <a:srgbClr val="C97F32"/>
                </a:solidFill>
                <a:latin typeface="Arial"/>
              </a:rPr>
              <a:t>→</a:t>
            </a:r>
          </a:p>
        </p:txBody>
      </p:sp>
      <p:sp>
        <p:nvSpPr>
          <p:cNvPr id="29" name="Rounded Rectangle 28"/>
          <p:cNvSpPr/>
          <p:nvPr/>
        </p:nvSpPr>
        <p:spPr>
          <a:xfrm>
            <a:off x="6035040" y="5239512"/>
            <a:ext cx="5486400" cy="822960"/>
          </a:xfrm>
          <a:prstGeom prst="roundRect">
            <a:avLst>
              <a:gd name="adj" fmla="val 10000"/>
            </a:avLst>
          </a:prstGeom>
          <a:solidFill>
            <a:srgbClr val="FFFFFF"/>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17920" y="5294376"/>
            <a:ext cx="5166360" cy="731520"/>
          </a:xfrm>
          <a:prstGeom prst="rect">
            <a:avLst/>
          </a:prstGeom>
          <a:noFill/>
        </p:spPr>
        <p:txBody>
          <a:bodyPr wrap="square" lIns="36576" tIns="18288" rIns="36576" bIns="18288" anchor="ctr">
            <a:spAutoFit/>
          </a:bodyPr>
          <a:lstStyle/>
          <a:p>
            <a:pPr algn="l">
              <a:lnSpc>
                <a:spcPct val="105000"/>
              </a:lnSpc>
            </a:pPr>
            <a:r>
              <a:rPr sz="1200" b="0">
                <a:solidFill>
                  <a:srgbClr val="22283B"/>
                </a:solidFill>
                <a:latin typeface="Arial"/>
              </a:rPr>
              <a:t>Archivos de hasta 4 MB, guardados en Supabase Storage.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515600" cy="274320"/>
          </a:xfrm>
          <a:prstGeom prst="rect">
            <a:avLst/>
          </a:prstGeom>
          <a:noFill/>
        </p:spPr>
        <p:txBody>
          <a:bodyPr wrap="square" lIns="36576" tIns="18288" rIns="36576" bIns="18288" anchor="t">
            <a:spAutoFit/>
          </a:bodyPr>
          <a:lstStyle/>
          <a:p>
            <a:pPr algn="l">
              <a:lnSpc>
                <a:spcPct val="110000"/>
              </a:lnSpc>
            </a:pPr>
            <a:r>
              <a:rPr sz="1150" b="1">
                <a:solidFill>
                  <a:srgbClr val="C97F32"/>
                </a:solidFill>
                <a:latin typeface="Arial"/>
              </a:rPr>
              <a:t>CIERRE DEL PROYECTO</a:t>
            </a:r>
          </a:p>
        </p:txBody>
      </p:sp>
      <p:sp>
        <p:nvSpPr>
          <p:cNvPr id="3" name="TextBox 2"/>
          <p:cNvSpPr txBox="1"/>
          <p:nvPr/>
        </p:nvSpPr>
        <p:spPr>
          <a:xfrm>
            <a:off x="640080" y="713232"/>
            <a:ext cx="10881360" cy="640080"/>
          </a:xfrm>
          <a:prstGeom prst="rect">
            <a:avLst/>
          </a:prstGeom>
          <a:noFill/>
        </p:spPr>
        <p:txBody>
          <a:bodyPr wrap="square" lIns="36576" tIns="18288" rIns="36576" bIns="18288" anchor="t">
            <a:spAutoFit/>
          </a:bodyPr>
          <a:lstStyle/>
          <a:p>
            <a:pPr algn="l">
              <a:lnSpc>
                <a:spcPct val="110000"/>
              </a:lnSpc>
            </a:pPr>
            <a:r>
              <a:rPr sz="3000" b="1">
                <a:solidFill>
                  <a:srgbClr val="1E2761"/>
                </a:solidFill>
                <a:latin typeface="Arial"/>
              </a:rPr>
              <a:t>Qué falta y cómo lo vamos a terminar</a:t>
            </a:r>
          </a:p>
        </p:txBody>
      </p:sp>
      <p:sp>
        <p:nvSpPr>
          <p:cNvPr id="4" name="TextBox 3"/>
          <p:cNvSpPr txBox="1"/>
          <p:nvPr/>
        </p:nvSpPr>
        <p:spPr>
          <a:xfrm>
            <a:off x="640080" y="6446520"/>
            <a:ext cx="8229600" cy="274320"/>
          </a:xfrm>
          <a:prstGeom prst="rect">
            <a:avLst/>
          </a:prstGeom>
          <a:noFill/>
        </p:spPr>
        <p:txBody>
          <a:bodyPr wrap="square" lIns="36576" tIns="18288" rIns="36576" bIns="18288" anchor="t">
            <a:spAutoFit/>
          </a:bodyPr>
          <a:lstStyle/>
          <a:p>
            <a:pPr algn="l">
              <a:lnSpc>
                <a:spcPct val="110000"/>
              </a:lnSpc>
            </a:pPr>
            <a:r>
              <a:rPr sz="900" b="0">
                <a:solidFill>
                  <a:srgbClr val="9AA5B1"/>
                </a:solidFill>
                <a:latin typeface="Arial"/>
              </a:rPr>
              <a:t>AgeCare · Marketing y Fidelización · Avance Proyecto APT (Fase 2)</a:t>
            </a:r>
          </a:p>
        </p:txBody>
      </p:sp>
      <p:sp>
        <p:nvSpPr>
          <p:cNvPr id="5" name="TextBox 4"/>
          <p:cNvSpPr txBox="1"/>
          <p:nvPr/>
        </p:nvSpPr>
        <p:spPr>
          <a:xfrm>
            <a:off x="10972800" y="6446520"/>
            <a:ext cx="640080" cy="177421"/>
          </a:xfrm>
          <a:prstGeom prst="rect">
            <a:avLst/>
          </a:prstGeom>
          <a:noFill/>
        </p:spPr>
        <p:txBody>
          <a:bodyPr wrap="square" lIns="36576" tIns="18288" rIns="36576" bIns="18288" anchor="t">
            <a:spAutoFit/>
          </a:bodyPr>
          <a:lstStyle/>
          <a:p>
            <a:pPr algn="r">
              <a:lnSpc>
                <a:spcPct val="110000"/>
              </a:lnSpc>
            </a:pPr>
            <a:r>
              <a:rPr lang="es-CL" sz="900" b="0">
                <a:solidFill>
                  <a:srgbClr val="9AA5B1"/>
                </a:solidFill>
                <a:latin typeface="Arial"/>
              </a:rPr>
              <a:t>10</a:t>
            </a:r>
            <a:endParaRPr sz="900" b="0">
              <a:solidFill>
                <a:srgbClr val="9AA5B1"/>
              </a:solidFill>
              <a:latin typeface="Arial"/>
            </a:endParaRPr>
          </a:p>
        </p:txBody>
      </p:sp>
      <p:sp>
        <p:nvSpPr>
          <p:cNvPr id="6" name="Rounded Rectangle 5"/>
          <p:cNvSpPr/>
          <p:nvPr/>
        </p:nvSpPr>
        <p:spPr>
          <a:xfrm>
            <a:off x="640080" y="1554480"/>
            <a:ext cx="3474720" cy="2286000"/>
          </a:xfrm>
          <a:prstGeom prst="roundRect">
            <a:avLst>
              <a:gd name="adj" fmla="val 6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1783080"/>
            <a:ext cx="1097280" cy="256032"/>
          </a:xfrm>
          <a:prstGeom prst="roundRect">
            <a:avLst>
              <a:gd name="adj" fmla="val 50000"/>
            </a:avLst>
          </a:prstGeom>
          <a:solidFill>
            <a:srgbClr val="C97F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FFFFFF"/>
                </a:solidFill>
                <a:latin typeface="Arial"/>
              </a:rPr>
              <a:t>PENDIENTE</a:t>
            </a:r>
          </a:p>
        </p:txBody>
      </p:sp>
      <p:sp>
        <p:nvSpPr>
          <p:cNvPr id="8" name="TextBox 7"/>
          <p:cNvSpPr txBox="1"/>
          <p:nvPr/>
        </p:nvSpPr>
        <p:spPr>
          <a:xfrm>
            <a:off x="868680" y="2240280"/>
            <a:ext cx="3017520" cy="457200"/>
          </a:xfrm>
          <a:prstGeom prst="rect">
            <a:avLst/>
          </a:prstGeom>
          <a:noFill/>
        </p:spPr>
        <p:txBody>
          <a:bodyPr wrap="square" lIns="36576" tIns="18288" rIns="36576" bIns="18288" anchor="t">
            <a:spAutoFit/>
          </a:bodyPr>
          <a:lstStyle/>
          <a:p>
            <a:pPr algn="l">
              <a:lnSpc>
                <a:spcPct val="110000"/>
              </a:lnSpc>
            </a:pPr>
            <a:r>
              <a:rPr sz="1700" b="1">
                <a:solidFill>
                  <a:srgbClr val="1E2761"/>
                </a:solidFill>
                <a:latin typeface="Arial"/>
              </a:rPr>
              <a:t>Demo grabada</a:t>
            </a:r>
          </a:p>
        </p:txBody>
      </p:sp>
      <p:sp>
        <p:nvSpPr>
          <p:cNvPr id="9" name="TextBox 8"/>
          <p:cNvSpPr txBox="1"/>
          <p:nvPr/>
        </p:nvSpPr>
        <p:spPr>
          <a:xfrm>
            <a:off x="868680" y="2788920"/>
            <a:ext cx="3017520" cy="1005840"/>
          </a:xfrm>
          <a:prstGeom prst="rect">
            <a:avLst/>
          </a:prstGeom>
          <a:noFill/>
        </p:spPr>
        <p:txBody>
          <a:bodyPr wrap="square" lIns="36576" tIns="18288" rIns="36576" bIns="18288" anchor="t">
            <a:spAutoFit/>
          </a:bodyPr>
          <a:lstStyle/>
          <a:p>
            <a:pPr algn="l">
              <a:lnSpc>
                <a:spcPct val="110000"/>
              </a:lnSpc>
            </a:pPr>
            <a:r>
              <a:rPr sz="1250" b="0">
                <a:solidFill>
                  <a:srgbClr val="22283B"/>
                </a:solidFill>
                <a:latin typeface="Arial"/>
              </a:rPr>
              <a:t>Flujo completo: una reseña suma puntos y la cuidadora sube en el ranking.</a:t>
            </a:r>
          </a:p>
        </p:txBody>
      </p:sp>
      <p:sp>
        <p:nvSpPr>
          <p:cNvPr id="10" name="Rounded Rectangle 9"/>
          <p:cNvSpPr/>
          <p:nvPr/>
        </p:nvSpPr>
        <p:spPr>
          <a:xfrm>
            <a:off x="4343400" y="1554480"/>
            <a:ext cx="3474720" cy="2286000"/>
          </a:xfrm>
          <a:prstGeom prst="roundRect">
            <a:avLst>
              <a:gd name="adj" fmla="val 6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0" y="1783080"/>
            <a:ext cx="1097280" cy="256032"/>
          </a:xfrm>
          <a:prstGeom prst="roundRect">
            <a:avLst>
              <a:gd name="adj" fmla="val 50000"/>
            </a:avLst>
          </a:prstGeom>
          <a:solidFill>
            <a:srgbClr val="C97F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FFFFFF"/>
                </a:solidFill>
                <a:latin typeface="Arial"/>
              </a:rPr>
              <a:t>PENDIENTE</a:t>
            </a:r>
          </a:p>
        </p:txBody>
      </p:sp>
      <p:sp>
        <p:nvSpPr>
          <p:cNvPr id="12" name="TextBox 11"/>
          <p:cNvSpPr txBox="1"/>
          <p:nvPr/>
        </p:nvSpPr>
        <p:spPr>
          <a:xfrm>
            <a:off x="4572000" y="2240280"/>
            <a:ext cx="3017520" cy="457200"/>
          </a:xfrm>
          <a:prstGeom prst="rect">
            <a:avLst/>
          </a:prstGeom>
          <a:noFill/>
        </p:spPr>
        <p:txBody>
          <a:bodyPr wrap="square" lIns="36576" tIns="18288" rIns="36576" bIns="18288" anchor="t">
            <a:spAutoFit/>
          </a:bodyPr>
          <a:lstStyle/>
          <a:p>
            <a:pPr algn="l">
              <a:lnSpc>
                <a:spcPct val="110000"/>
              </a:lnSpc>
            </a:pPr>
            <a:r>
              <a:rPr sz="1700" b="1">
                <a:solidFill>
                  <a:srgbClr val="1E2761"/>
                </a:solidFill>
                <a:latin typeface="Arial"/>
              </a:rPr>
              <a:t>Especificación técnica final</a:t>
            </a:r>
          </a:p>
        </p:txBody>
      </p:sp>
      <p:sp>
        <p:nvSpPr>
          <p:cNvPr id="13" name="TextBox 12"/>
          <p:cNvSpPr txBox="1"/>
          <p:nvPr/>
        </p:nvSpPr>
        <p:spPr>
          <a:xfrm>
            <a:off x="4572000" y="2788920"/>
            <a:ext cx="3017520" cy="1005840"/>
          </a:xfrm>
          <a:prstGeom prst="rect">
            <a:avLst/>
          </a:prstGeom>
          <a:noFill/>
        </p:spPr>
        <p:txBody>
          <a:bodyPr wrap="square" lIns="36576" tIns="18288" rIns="36576" bIns="18288" anchor="t">
            <a:spAutoFit/>
          </a:bodyPr>
          <a:lstStyle/>
          <a:p>
            <a:pPr algn="l">
              <a:lnSpc>
                <a:spcPct val="110000"/>
              </a:lnSpc>
            </a:pPr>
            <a:r>
              <a:rPr sz="1250" b="0">
                <a:solidFill>
                  <a:srgbClr val="22283B"/>
                </a:solidFill>
                <a:latin typeface="Arial"/>
              </a:rPr>
              <a:t>Documento propio de los endpoints (hoy en Swagger y el README).</a:t>
            </a:r>
          </a:p>
        </p:txBody>
      </p:sp>
      <p:sp>
        <p:nvSpPr>
          <p:cNvPr id="14" name="Rounded Rectangle 13"/>
          <p:cNvSpPr/>
          <p:nvPr/>
        </p:nvSpPr>
        <p:spPr>
          <a:xfrm>
            <a:off x="8046719" y="1554480"/>
            <a:ext cx="3474720" cy="2286000"/>
          </a:xfrm>
          <a:prstGeom prst="roundRect">
            <a:avLst>
              <a:gd name="adj" fmla="val 6000"/>
            </a:avLst>
          </a:prstGeom>
          <a:solidFill>
            <a:srgbClr val="F4F6FB"/>
          </a:solidFill>
          <a:ln w="9525">
            <a:solidFill>
              <a:srgbClr val="E2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275319" y="1783080"/>
            <a:ext cx="1097280" cy="256032"/>
          </a:xfrm>
          <a:prstGeom prst="roundRect">
            <a:avLst>
              <a:gd name="adj" fmla="val 50000"/>
            </a:avLst>
          </a:prstGeom>
          <a:solidFill>
            <a:srgbClr val="C97F32"/>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FFFFFF"/>
                </a:solidFill>
                <a:latin typeface="Arial"/>
              </a:rPr>
              <a:t>PENDIENTE</a:t>
            </a:r>
          </a:p>
        </p:txBody>
      </p:sp>
      <p:sp>
        <p:nvSpPr>
          <p:cNvPr id="16" name="TextBox 15"/>
          <p:cNvSpPr txBox="1"/>
          <p:nvPr/>
        </p:nvSpPr>
        <p:spPr>
          <a:xfrm>
            <a:off x="8275319" y="2240280"/>
            <a:ext cx="3017520" cy="457200"/>
          </a:xfrm>
          <a:prstGeom prst="rect">
            <a:avLst/>
          </a:prstGeom>
          <a:noFill/>
        </p:spPr>
        <p:txBody>
          <a:bodyPr wrap="square" lIns="36576" tIns="18288" rIns="36576" bIns="18288" anchor="t">
            <a:spAutoFit/>
          </a:bodyPr>
          <a:lstStyle/>
          <a:p>
            <a:pPr algn="l">
              <a:lnSpc>
                <a:spcPct val="110000"/>
              </a:lnSpc>
            </a:pPr>
            <a:r>
              <a:rPr sz="1700" b="1">
                <a:solidFill>
                  <a:srgbClr val="1E2761"/>
                </a:solidFill>
                <a:latin typeface="Arial"/>
              </a:rPr>
              <a:t>Puntaje → «Destacada»</a:t>
            </a:r>
          </a:p>
        </p:txBody>
      </p:sp>
      <p:sp>
        <p:nvSpPr>
          <p:cNvPr id="17" name="TextBox 16"/>
          <p:cNvSpPr txBox="1"/>
          <p:nvPr/>
        </p:nvSpPr>
        <p:spPr>
          <a:xfrm>
            <a:off x="8275319" y="2788920"/>
            <a:ext cx="3017520" cy="1005840"/>
          </a:xfrm>
          <a:prstGeom prst="rect">
            <a:avLst/>
          </a:prstGeom>
          <a:noFill/>
        </p:spPr>
        <p:txBody>
          <a:bodyPr wrap="square" lIns="36576" tIns="18288" rIns="36576" bIns="18288" anchor="t">
            <a:spAutoFit/>
          </a:bodyPr>
          <a:lstStyle/>
          <a:p>
            <a:pPr algn="l">
              <a:lnSpc>
                <a:spcPct val="110000"/>
              </a:lnSpc>
            </a:pPr>
            <a:r>
              <a:rPr sz="1250" b="0">
                <a:solidFill>
                  <a:srgbClr val="22283B"/>
                </a:solidFill>
                <a:latin typeface="Arial"/>
              </a:rPr>
              <a:t>Conectar el puntaje de la Consola con la marca del sitio público.</a:t>
            </a:r>
          </a:p>
        </p:txBody>
      </p:sp>
      <p:sp>
        <p:nvSpPr>
          <p:cNvPr id="18" name="Rounded Rectangle 17"/>
          <p:cNvSpPr/>
          <p:nvPr/>
        </p:nvSpPr>
        <p:spPr>
          <a:xfrm>
            <a:off x="640080" y="4251960"/>
            <a:ext cx="10881360" cy="173736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389120"/>
            <a:ext cx="10332720" cy="365760"/>
          </a:xfrm>
          <a:prstGeom prst="rect">
            <a:avLst/>
          </a:prstGeom>
          <a:noFill/>
        </p:spPr>
        <p:txBody>
          <a:bodyPr wrap="square" lIns="36576" tIns="18288" rIns="36576" bIns="18288" anchor="t">
            <a:spAutoFit/>
          </a:bodyPr>
          <a:lstStyle/>
          <a:p>
            <a:pPr algn="l">
              <a:lnSpc>
                <a:spcPct val="110000"/>
              </a:lnSpc>
            </a:pPr>
            <a:r>
              <a:rPr sz="1500" b="1">
                <a:solidFill>
                  <a:srgbClr val="F2A65A"/>
                </a:solidFill>
                <a:latin typeface="Arial"/>
              </a:rPr>
              <a:t>Cómo lo vamos a hacer</a:t>
            </a:r>
          </a:p>
        </p:txBody>
      </p:sp>
      <p:sp>
        <p:nvSpPr>
          <p:cNvPr id="20" name="TextBox 19"/>
          <p:cNvSpPr txBox="1"/>
          <p:nvPr/>
        </p:nvSpPr>
        <p:spPr>
          <a:xfrm>
            <a:off x="914400" y="4800600"/>
            <a:ext cx="10332720" cy="1143000"/>
          </a:xfrm>
          <a:prstGeom prst="rect">
            <a:avLst/>
          </a:prstGeom>
          <a:noFill/>
        </p:spPr>
        <p:txBody>
          <a:bodyPr wrap="square" lIns="36576" tIns="18288" rIns="36576" bIns="18288" anchor="t">
            <a:spAutoFit/>
          </a:bodyPr>
          <a:lstStyle/>
          <a:p>
            <a:pPr algn="l">
              <a:lnSpc>
                <a:spcPct val="110000"/>
              </a:lnSpc>
              <a:spcAft>
                <a:spcPts val="400"/>
              </a:spcAft>
            </a:pPr>
            <a:r>
              <a:rPr sz="1350" b="0">
                <a:solidFill>
                  <a:srgbClr val="FFFFFF"/>
                </a:solidFill>
                <a:latin typeface="Arial"/>
              </a:rPr>
              <a:t>•  Congelar funcionalidades nuevas y dedicar las semanas de cierre a estos tres puntos.</a:t>
            </a:r>
          </a:p>
          <a:p>
            <a:pPr algn="l">
              <a:lnSpc>
                <a:spcPct val="110000"/>
              </a:lnSpc>
              <a:spcAft>
                <a:spcPts val="400"/>
              </a:spcAft>
            </a:pPr>
            <a:r>
              <a:rPr sz="1350" b="0">
                <a:solidFill>
                  <a:srgbClr val="FFFFFF"/>
                </a:solidFill>
                <a:latin typeface="Arial"/>
              </a:rPr>
              <a:t>•  Grabar la demo con datos de prueba y mantener las pruebas automáticas al día.</a:t>
            </a:r>
          </a:p>
          <a:p>
            <a:pPr algn="l">
              <a:lnSpc>
                <a:spcPct val="110000"/>
              </a:lnSpc>
              <a:spcAft>
                <a:spcPts val="400"/>
              </a:spcAft>
            </a:pPr>
            <a:r>
              <a:rPr sz="1350" b="0">
                <a:solidFill>
                  <a:srgbClr val="FFFFFF"/>
                </a:solidFill>
                <a:latin typeface="Arial"/>
              </a:rPr>
              <a:t>•  Seguir publicando desde GitHub, probando antes en un entorno limpio.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595360" y="-1463040"/>
            <a:ext cx="4754880" cy="4754880"/>
          </a:xfrm>
          <a:prstGeom prst="ellipse">
            <a:avLst/>
          </a:prstGeom>
          <a:solidFill>
            <a:srgbClr val="14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92640" y="4023360"/>
            <a:ext cx="3108960" cy="3108960"/>
          </a:xfrm>
          <a:prstGeom prst="ellipse">
            <a:avLst/>
          </a:prstGeom>
          <a:solidFill>
            <a:srgbClr val="F2A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97280"/>
            <a:ext cx="8229600" cy="914400"/>
          </a:xfrm>
          <a:prstGeom prst="rect">
            <a:avLst/>
          </a:prstGeom>
          <a:noFill/>
        </p:spPr>
        <p:txBody>
          <a:bodyPr wrap="square" lIns="36576" tIns="18288" rIns="36576" bIns="18288" anchor="t">
            <a:spAutoFit/>
          </a:bodyPr>
          <a:lstStyle/>
          <a:p>
            <a:pPr algn="l">
              <a:lnSpc>
                <a:spcPct val="110000"/>
              </a:lnSpc>
            </a:pPr>
            <a:r>
              <a:rPr sz="4800" b="1">
                <a:solidFill>
                  <a:srgbClr val="FFFFFF"/>
                </a:solidFill>
                <a:latin typeface="Arial"/>
              </a:rPr>
              <a:t>Gracias</a:t>
            </a:r>
          </a:p>
        </p:txBody>
      </p:sp>
      <p:sp>
        <p:nvSpPr>
          <p:cNvPr id="6" name="TextBox 5"/>
          <p:cNvSpPr txBox="1"/>
          <p:nvPr/>
        </p:nvSpPr>
        <p:spPr>
          <a:xfrm>
            <a:off x="731520" y="2011680"/>
            <a:ext cx="8229600" cy="548640"/>
          </a:xfrm>
          <a:prstGeom prst="rect">
            <a:avLst/>
          </a:prstGeom>
          <a:noFill/>
        </p:spPr>
        <p:txBody>
          <a:bodyPr wrap="square" lIns="36576" tIns="18288" rIns="36576" bIns="18288" anchor="t">
            <a:spAutoFit/>
          </a:bodyPr>
          <a:lstStyle/>
          <a:p>
            <a:pPr algn="l">
              <a:lnSpc>
                <a:spcPct val="110000"/>
              </a:lnSpc>
            </a:pPr>
            <a:r>
              <a:rPr sz="2400" b="0">
                <a:solidFill>
                  <a:srgbClr val="CADCFC"/>
                </a:solidFill>
                <a:latin typeface="Arial"/>
              </a:rPr>
              <a:t>¿Preguntas?</a:t>
            </a:r>
          </a:p>
        </p:txBody>
      </p:sp>
      <p:sp>
        <p:nvSpPr>
          <p:cNvPr id="7" name="Rounded Rectangle 6"/>
          <p:cNvSpPr/>
          <p:nvPr/>
        </p:nvSpPr>
        <p:spPr>
          <a:xfrm>
            <a:off x="731520" y="3131820"/>
            <a:ext cx="7802575" cy="1632204"/>
          </a:xfrm>
          <a:prstGeom prst="roundRect">
            <a:avLst>
              <a:gd name="adj" fmla="val 5000"/>
            </a:avLst>
          </a:prstGeom>
          <a:solidFill>
            <a:srgbClr val="14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0" y="3700116"/>
            <a:ext cx="7498079" cy="353879"/>
          </a:xfrm>
          <a:prstGeom prst="rect">
            <a:avLst/>
          </a:prstGeom>
          <a:noFill/>
        </p:spPr>
        <p:txBody>
          <a:bodyPr wrap="square" lIns="36576" tIns="18288" rIns="36576" bIns="18288" anchor="t">
            <a:spAutoFit/>
          </a:bodyPr>
          <a:lstStyle/>
          <a:p>
            <a:pPr algn="l">
              <a:lnSpc>
                <a:spcPct val="112000"/>
              </a:lnSpc>
              <a:spcAft>
                <a:spcPts val="800"/>
              </a:spcAft>
            </a:pPr>
            <a:r>
              <a:rPr sz="2000" b="1" dirty="0">
                <a:solidFill>
                  <a:srgbClr val="F2A65A"/>
                </a:solidFill>
                <a:latin typeface="Arial"/>
              </a:rPr>
              <a:t>Equipo</a:t>
            </a:r>
            <a:r>
              <a:rPr lang="es-CL" sz="2000" b="1" dirty="0">
                <a:solidFill>
                  <a:srgbClr val="F2A65A"/>
                </a:solidFill>
                <a:latin typeface="Arial"/>
              </a:rPr>
              <a:t>    </a:t>
            </a:r>
            <a:r>
              <a:rPr sz="2000" b="1" dirty="0">
                <a:solidFill>
                  <a:srgbClr val="FFFFFF"/>
                </a:solidFill>
                <a:latin typeface="Arial"/>
              </a:rPr>
              <a:t>Bryan Piña</a:t>
            </a:r>
            <a:r>
              <a:rPr lang="es-CL" sz="2000" b="1" dirty="0">
                <a:solidFill>
                  <a:srgbClr val="FFFFFF"/>
                </a:solidFill>
                <a:latin typeface="Arial"/>
              </a:rPr>
              <a:t>    </a:t>
            </a:r>
            <a:r>
              <a:rPr sz="2000" b="1" dirty="0">
                <a:solidFill>
                  <a:srgbClr val="FFFFFF"/>
                </a:solidFill>
                <a:latin typeface="Arial"/>
              </a:rPr>
              <a:t>Julio Muñoz</a:t>
            </a:r>
            <a:endParaRPr sz="2000" b="0" dirty="0">
              <a:solidFill>
                <a:srgbClr val="FFFFFF"/>
              </a:solidFill>
              <a:latin typeface="Arial"/>
            </a:endParaRPr>
          </a:p>
        </p:txBody>
      </p:sp>
      <p:sp>
        <p:nvSpPr>
          <p:cNvPr id="9" name="TextBox 8"/>
          <p:cNvSpPr txBox="1"/>
          <p:nvPr/>
        </p:nvSpPr>
        <p:spPr>
          <a:xfrm>
            <a:off x="731520" y="6080760"/>
            <a:ext cx="8229600" cy="274320"/>
          </a:xfrm>
          <a:prstGeom prst="rect">
            <a:avLst/>
          </a:prstGeom>
          <a:noFill/>
        </p:spPr>
        <p:txBody>
          <a:bodyPr wrap="square" lIns="36576" tIns="18288" rIns="36576" bIns="18288" anchor="t">
            <a:spAutoFit/>
          </a:bodyPr>
          <a:lstStyle/>
          <a:p>
            <a:pPr algn="l">
              <a:lnSpc>
                <a:spcPct val="110000"/>
              </a:lnSpc>
            </a:pPr>
            <a:r>
              <a:rPr sz="1050" b="0">
                <a:solidFill>
                  <a:srgbClr val="CADCFC"/>
                </a:solidFill>
                <a:latin typeface="Arial"/>
              </a:rPr>
              <a:t>Repositorio: github.com/Bemol69/BryanPi-a_JulioMunoz_ProyectoDeTitulo_AgecARE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1853</Words>
  <Application>Microsoft Office PowerPoint</Application>
  <PresentationFormat>Panorámica</PresentationFormat>
  <Paragraphs>180</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JULIO . MUNOZ ROJAS</cp:lastModifiedBy>
  <cp:revision>4</cp:revision>
  <dcterms:created xsi:type="dcterms:W3CDTF">2013-01-27T09:14:16Z</dcterms:created>
  <dcterms:modified xsi:type="dcterms:W3CDTF">2026-10-13T19:42:30Z</dcterms:modified>
  <cp:category/>
</cp:coreProperties>
</file>